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56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команда проекта «Дневной лимит». За пять минут покажем, какую проблему студентов мы решаем, как работает наш AI-ассистент и зачем он Т-Банку. Справа на слайде — главное, что видит пользователь: одна цифра, сколько можно потратить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пользователь — студент очной формы с нерегулярным доходом: небольшая стипендия плюс подработка. Его проблема простая: деньги заканчиваются раньше, чем приходят новые. Причины подтверждены исследованиями. 68% молодых совершают импульсивные покупки — маркетплейсы, кофе, доставка. 57% тратят сразу после поступления денег. И 61% студентов работают, поэтому доход приходит нерегулярно и классический бюджет на месяц не работает. Студенту не нужен курс финграмотности — ему нужен ответ на один вопрос: сколько можно потратить сегодня. И в этом наша ценность: студент видит нехватку денег заранее, а не в последний день, и успевает решить, что урезать.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Сколько таких студентов. В России 4,3 миллиона студентов вузов. Из них очно учатся 62%, и 61% совмещают учёбу с работой — это наш сегмент, около 1,6 миллиона человек. Половина из них уже пользуется ИИ-сервисами, то есть около 800 тысяч готовы к формату «спросил — получил ответ». Рынок растёт: студентов стало на 9,6% больше, чем в 2021 году, а подрабатывать планируют 73%. И важный факт из Google Trends: запрос «бюджет» ищут почти в двадцать раз чаще, чем «финансовую грамотность». Люди ищут инструмент, а не обучение.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 принципе — в демо видно, что ассистент отвечает, а здесь — почему ответу можно верить. Студент пишет вопрос обычными словами, например: «хватит ли до десятого, если куплю кроссовки за три тысячи?». Языковая модель GigaChat понимает вопрос и сама выбирает нужный расчёт — это tool calling. Считает не модель, а код на Python, поэтому цифры точные. Потом модель объясняет результат: на каких данных он основан, какие допущения и что делать дальше. Правило простое: баланс минус обязательные платежи, делим на дни до стипендии. Подработку учитываем, только когда она пришла, — поэтому лимит не опирается на деньги, которых ещё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макет, а работающий сервис — он открывается по ссылке без регистрации. Уже работает: загрузка данных — готовый профиль, свой файл или форма; расчёт дневного лимита и прогноз; чат на GigaChat, где модель выбирает расчёт, а код считает; проверка покупки и разбор трат по категориям. Сервис честно сообщает, если данных не хватает или они ошибочные, и отказывается давать инвестсоветы. [Запускаем скринкаст; копия — на флешке.] Сценарий: студент с подработкой видит лимит 471 рубль, спрашивает про кроссовки за три тысячи — и получает пересчёт: 257 рублей в день, с объяснением.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мы отличаемся. Каждое решение отвечает на свой вопрос. Приложение банка — куда ушли деньги, то есть показывает прошлое. Приложения учёта — сколько потрачено по категориям, но учёт надо вести вручную, и бюджет рассчитан на регулярную зарплату. Обычный AI-чат даст совет, но данные в него нужно вводить самому, и в цифрах он может ошибиться. Мы отвечаем на вопрос, который студенту нужен каждый день: сколько можно потратить сегодня. Поэтому мы не конкурируем с приложением банка, а дополняем его. Ближайший зарубежный аналог, Cleo, в России недоступен.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это Т-Банку. Для студента базовый лимит бесплатный. Банк зарабатывает косвенно: студенты приходят в банк ради функции — это экономия на привлечении, ориентир — до трёх тысяч рублей по «Приведи друга». И удержание: клиент, который каждый день открывает приложение ради лимита, не уходит в другой банк. Прямая прибыль — расширенный режим в подписке Pro за 299 рублей. Главная переменная затрата — запросы к GigaChat Lite: около 16 рублей на пользователя в год. На пилоте в 50 тысяч студентов пилот окупается уже в первый год во всех трёх сценариях: от плюс 0,5 до плюс 7,7 миллиона, в базовом — плюс 3,7 миллиона. Сложные вопросы можно отдавать GigaChat Pro, но суммы всё равно считает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проект будет развиваться. Сейчас, на хакатоне, у нас работающий MVP на синтетических данных. Следующий шаг — проверка с пользователями: даём сервис десяти студентам, цель — чтобы не меньше 70% оценили ответ на 4 или 5 из 5, и сверяем точность расчёта на реальных выписках. Параллельно доводим поиск подписок и цели накопления. Дальше — модуль внутри приложения Т-Банка на реальных транзакциях с согласия клиента, затем другие банки и молодые специалисты. Главное, что проверяем в пилоте: открывают ли студенты лимит каждый день — это и есть удержание для банка.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Итог. Проблема — 1,6 миллиона студентов с нерегулярным доходом не понимают, сколько можно тратить до следующего поступления. Наше решение — одна цифра на сегодня: GigaChat понимает вопрос, код считает, ответ показывает допущения. Ценность для студента — он видит нехватку денег заранее и успевает решить, что урезать. Честно о границах: доход мы не увеличиваем, работаем на синтетических данных и не даём инвестсоветов. Для Т-Банка это лояльные молодые клиенты и пилот, который окупается в первый год. По QR — полный отчёт с финмоделью.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vorog108/Xakaton_27_09_2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39125" y="1914525"/>
            <a:ext cx="3130550" cy="2058670"/>
          </a:xfrm>
          <a:prstGeom prst="roundRect">
            <a:avLst>
              <a:gd name="adj" fmla="val 9408"/>
            </a:avLst>
          </a:prstGeom>
          <a:solidFill>
            <a:srgbClr val="FDFBF6"/>
          </a:solidFill>
          <a:ln w="19050">
            <a:solidFill>
              <a:srgbClr val="F0A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225040"/>
            <a:ext cx="2584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Сегодня можно потратить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49640" y="2524760"/>
            <a:ext cx="258480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B25A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471 ₽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549640" y="3413760"/>
            <a:ext cx="2584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4A55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до стипендии 14 </a:t>
            </a:r>
            <a:r>
              <a:rPr lang="en-US" sz="1400" dirty="0" err="1">
                <a:solidFill>
                  <a:srgbClr val="4A55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дней</a:t>
            </a:r>
            <a:endParaRPr lang="en-US" sz="1400" dirty="0">
              <a:solidFill>
                <a:srgbClr val="4A5566"/>
              </a:solidFill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B25A06"/>
                </a:solidFill>
                <a:latin typeface="Century" panose="02040604050505020304" pitchFamily="18" charset="0"/>
                <a:ea typeface="IBM Plex Sans" pitchFamily="34" charset="-122"/>
                <a:cs typeface="IBM Plex Sans" pitchFamily="34" charset="-120"/>
              </a:rPr>
              <a:t>ХАКАТОН «ПЯТЫЙ ЭЛЕМЕНТ» · КЕЙС 1 - AI В ЛИЧНЫХ ФИНАНСАХ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1893570"/>
            <a:ext cx="719455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Дневной лимит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812800" y="3874770"/>
            <a:ext cx="7194550" cy="1115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4A5566"/>
                </a:solidFill>
                <a:latin typeface="Century" panose="02040604050505020304" pitchFamily="18" charset="0"/>
                <a:ea typeface="IBM Plex Sans" pitchFamily="34" charset="-122"/>
                <a:cs typeface="IBM Plex Sans" pitchFamily="34" charset="-120"/>
              </a:rPr>
              <a:t>AI-ассистент, который говорит студенту, сколько можно потратить сегодня, чтобы дотянуть до следующего поступления</a:t>
            </a:r>
            <a:endParaRPr lang="en-US" sz="2200" dirty="0">
              <a:latin typeface="Century" panose="020406040505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Сергеев Б. · Барышов В. </a:t>
            </a:r>
            <a:r>
              <a:rPr lang="ru-RU" sz="16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-</a:t>
            </a:r>
            <a:r>
              <a:rPr lang="en-US" sz="16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Красноярск, 27 сентября 2026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 err="1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Деньги</a:t>
            </a:r>
            <a:r>
              <a:rPr lang="en-US" sz="3600" b="1" dirty="0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кончаются</a:t>
            </a:r>
            <a:r>
              <a:rPr lang="en-US" sz="3600" b="1" dirty="0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до</a:t>
            </a:r>
            <a:r>
              <a:rPr lang="en-US" sz="3600" b="1" dirty="0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стипендии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4565650" cy="4164330"/>
          </a:xfrm>
          <a:prstGeom prst="roundRect">
            <a:avLst>
              <a:gd name="adj" fmla="val 3583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81200"/>
            <a:ext cx="40708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B25A0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КТО ПОЛЬЗОВАТЕЛЬ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2680" y="2372360"/>
            <a:ext cx="407080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Студент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18–25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лет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очная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форма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.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Стипендия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2 296 ₽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плюс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подработка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: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доставка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розница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общепит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.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Приложение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банка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есть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учёт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не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ведёт</a:t>
            </a: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0" descr="line"/>
          <p:cNvPicPr>
            <a:picLocks noChangeAspect="1"/>
          </p:cNvPicPr>
          <p:nvPr/>
        </p:nvPicPr>
        <p:blipFill>
          <a:blip r:embed="rId3"/>
          <a:srcRect t="-3300" b="-3300"/>
          <a:stretch/>
        </p:blipFill>
        <p:spPr>
          <a:xfrm>
            <a:off x="1122680" y="3545840"/>
            <a:ext cx="3952240" cy="2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2680" y="3743960"/>
            <a:ext cx="407080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4A5566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«Когда на карте есть деньги, хочу понимать, сколько можно потратить сегодня, чтобы дотянуть до следующего поступления и не занимать»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91200" y="1671320"/>
            <a:ext cx="5755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B25A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68%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791200" y="2336800"/>
            <a:ext cx="5755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молодых делают импульсивные покупки: маркетплейсы, кофе, доставка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91200" y="3299460"/>
            <a:ext cx="5755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B25A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57%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791200" y="3964940"/>
            <a:ext cx="575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тратят «свободные деньги» сразу после поступления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91200" y="4678680"/>
            <a:ext cx="5755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B25A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61,2%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791200" y="5344160"/>
            <a:ext cx="5755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студентов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работают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- доход нерегулярный, «бюджет на месяц» не работает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Источники: СберСтрахование жизни и Работа.ру, июнь 2026 (18–35 лет); Ventra Go! и Нетология, 2024; ППТ.ру, 2026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 err="1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Сегмент</a:t>
            </a: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ru-RU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-</a:t>
            </a: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1,6 млн студентов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55141"/>
            <a:ext cx="18313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4,3 млн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67132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D9D2C3"/>
          </a:solidFill>
          <a:ln/>
        </p:spPr>
      </p:sp>
      <p:sp>
        <p:nvSpPr>
          <p:cNvPr id="5" name="Text 3"/>
          <p:cNvSpPr/>
          <p:nvPr/>
        </p:nvSpPr>
        <p:spPr>
          <a:xfrm>
            <a:off x="7975600" y="1835150"/>
            <a:ext cx="35057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все студенты вузов России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2466341"/>
            <a:ext cx="18313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25A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1,6 млн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2382520"/>
            <a:ext cx="1892300" cy="558800"/>
          </a:xfrm>
          <a:prstGeom prst="roundRect">
            <a:avLst>
              <a:gd name="adj" fmla="val 13636"/>
            </a:avLst>
          </a:prstGeom>
          <a:solidFill>
            <a:srgbClr val="F0A53A"/>
          </a:solidFill>
          <a:ln/>
        </p:spPr>
      </p:sp>
      <p:sp>
        <p:nvSpPr>
          <p:cNvPr id="8" name="Text 6"/>
          <p:cNvSpPr/>
          <p:nvPr/>
        </p:nvSpPr>
        <p:spPr>
          <a:xfrm>
            <a:off x="4787900" y="2546350"/>
            <a:ext cx="678903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очная форма и совмещают учёбу с работой: × 62% × 61,2% </a:t>
            </a:r>
            <a:r>
              <a:rPr lang="ru-RU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-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b="1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наш сегмент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3177541"/>
            <a:ext cx="18313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0,8 млн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0" y="3093720"/>
            <a:ext cx="946150" cy="558800"/>
          </a:xfrm>
          <a:prstGeom prst="roundRect">
            <a:avLst>
              <a:gd name="adj" fmla="val 13636"/>
            </a:avLst>
          </a:prstGeom>
          <a:solidFill>
            <a:srgbClr val="2B5CC8"/>
          </a:solidFill>
          <a:ln/>
        </p:spPr>
      </p:sp>
      <p:sp>
        <p:nvSpPr>
          <p:cNvPr id="11" name="Text 9"/>
          <p:cNvSpPr/>
          <p:nvPr/>
        </p:nvSpPr>
        <p:spPr>
          <a:xfrm>
            <a:off x="3841750" y="3257550"/>
            <a:ext cx="77635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уже пользуются ИИ-сервисами (51%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молодёжи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18-24) </a:t>
            </a:r>
            <a:r>
              <a:rPr lang="ru-RU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-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готовы к формату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975" y="4011295"/>
            <a:ext cx="3380264" cy="1520825"/>
          </a:xfrm>
          <a:prstGeom prst="roundRect">
            <a:avLst>
              <a:gd name="adj" fmla="val 8142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4216400"/>
            <a:ext cx="305915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+9,6%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21080" y="4658361"/>
            <a:ext cx="305915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студентов в 2024 г. к 2021 г. </a:t>
            </a:r>
            <a:r>
              <a:rPr lang="ru-RU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-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рынок растёт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05789" y="4011295"/>
            <a:ext cx="3380343" cy="1520825"/>
          </a:xfrm>
          <a:prstGeom prst="roundRect">
            <a:avLst>
              <a:gd name="adj" fmla="val 8142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0894" y="4216400"/>
            <a:ext cx="305923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0894" y="4658361"/>
            <a:ext cx="3059237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студентов и абитуриентов подрабатывают или планируют в 2026 г.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Источники: ИСИЭЗ НИУ ВШЭ, 2025; Ventra Go! и Нетология, 2024; Авито, 2026; Mediascope, 2025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ИИ понимает, код считает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5"/>
            <a:ext cx="2218690" cy="1957070"/>
          </a:xfrm>
          <a:prstGeom prst="roundRect">
            <a:avLst>
              <a:gd name="adj" fmla="val 6327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8000"/>
            <a:ext cx="18627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1 · ВОПРОС</a:t>
            </a:r>
            <a:endParaRPr lang="en-US" sz="1600" dirty="0">
              <a:latin typeface="Rubi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1080" y="2067561"/>
            <a:ext cx="196751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Обычными словами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1080" y="2631441"/>
            <a:ext cx="186273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«Хватит ли до 10-го, если куплю кроссовки за 3 000?»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9440" y="2449830"/>
            <a:ext cx="355600" cy="20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99815" y="1572895"/>
            <a:ext cx="2218690" cy="1957070"/>
          </a:xfrm>
          <a:prstGeom prst="roundRect">
            <a:avLst>
              <a:gd name="adj" fmla="val 6327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4920" y="1778000"/>
            <a:ext cx="18627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2 · LLM</a:t>
            </a:r>
            <a:endParaRPr lang="en-US" sz="1600" dirty="0">
              <a:latin typeface="Rubik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804920" y="2067561"/>
            <a:ext cx="186273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Выбирает расчёт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04920" y="2387600"/>
            <a:ext cx="186273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Tool calling: вызывает check_purchase с ценой 3 000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3280" y="2449830"/>
            <a:ext cx="355600" cy="203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80480" y="1569720"/>
            <a:ext cx="2214880" cy="1963420"/>
          </a:xfrm>
          <a:prstGeom prst="roundRect">
            <a:avLst>
              <a:gd name="adj" fmla="val 6468"/>
            </a:avLst>
          </a:prstGeom>
          <a:solidFill>
            <a:srgbClr val="15202B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0" y="1772920"/>
            <a:ext cx="18627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0A53A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3 · КОД</a:t>
            </a:r>
            <a:endParaRPr lang="en-US" sz="1600" dirty="0">
              <a:latin typeface="Rubik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83680" y="2062480"/>
            <a:ext cx="186273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Считает точно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583680" y="2382520"/>
            <a:ext cx="18627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B9C6D3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(6 600 − 3 000) / 14 дней = 257 ₽ в день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6960" y="2449830"/>
            <a:ext cx="355600" cy="203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57335" y="1572895"/>
            <a:ext cx="2218690" cy="1957070"/>
          </a:xfrm>
          <a:prstGeom prst="roundRect">
            <a:avLst>
              <a:gd name="adj" fmla="val 6327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362440" y="1778000"/>
            <a:ext cx="18627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4 · LLM</a:t>
            </a:r>
            <a:endParaRPr lang="en-US" sz="1600" dirty="0">
              <a:latin typeface="Rubik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362440" y="2067561"/>
            <a:ext cx="186273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Cambria" panose="02040503050406030204" pitchFamily="18" charset="0"/>
                <a:cs typeface="IBM Plex Sans" pitchFamily="34" charset="-120"/>
              </a:rPr>
              <a:t>Объясняет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62440" y="2387600"/>
            <a:ext cx="186273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Результат, данные, допущения и что делать дальше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12800" y="3787141"/>
            <a:ext cx="10566400" cy="1016000"/>
          </a:xfrm>
          <a:prstGeom prst="roundRect">
            <a:avLst>
              <a:gd name="adj" fmla="val 12500"/>
            </a:avLst>
          </a:prstGeom>
          <a:solidFill>
            <a:srgbClr val="FBE9CC"/>
          </a:solidFill>
          <a:ln/>
        </p:spPr>
      </p:sp>
      <p:sp>
        <p:nvSpPr>
          <p:cNvPr id="23" name="Text 18"/>
          <p:cNvSpPr/>
          <p:nvPr/>
        </p:nvSpPr>
        <p:spPr>
          <a:xfrm>
            <a:off x="1066800" y="3990341"/>
            <a:ext cx="10360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Лимит = (баланс − обязательные платежи до стипендии) / дни до стипендии</a:t>
            </a:r>
            <a:endParaRPr lang="en-US" sz="2000" dirty="0">
              <a:latin typeface="Rubik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066800" y="43510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Подработка учитывается, только когда пришла. Не хватает на платежи — лимит 0 и сразу виден дефицит.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12800" y="505714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Без ИИ это ещё один экран с цифрами. ИИ не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считает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суммы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поэтому не может «придумать» остаток.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MVP: что уже работает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53893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00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ЧТО РЕАЛИЗОВАНО</a:t>
            </a:r>
            <a:endParaRPr lang="en-US" dirty="0">
              <a:latin typeface="Rubik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960882"/>
            <a:ext cx="5389372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75768" algn="l">
              <a:lnSpc>
                <a:spcPts val="196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Загрузка данных: готовые профили, свой JSON / CSV, форма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13360" indent="-175768" algn="l">
              <a:lnSpc>
                <a:spcPts val="196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Дневной лимит и прогноз «хватит / не хватит»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13360" indent="-175768" algn="l">
              <a:lnSpc>
                <a:spcPts val="196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Чат на GigaChat: вопрос → расчёт кодом → объяснение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13360" indent="-175768" algn="l">
              <a:lnSpc>
                <a:spcPts val="196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Проверка покупки и разбор трат по категориям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13360" indent="-175768" algn="l">
              <a:lnSpc>
                <a:spcPts val="196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Сообщения о пустых и ошибочных данных, отказ на инвестсоветы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830321"/>
            <a:ext cx="53893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00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СЦЕНАРИЙ ВЖИВУЮ</a:t>
            </a:r>
            <a:endParaRPr lang="en-US" dirty="0">
              <a:latin typeface="Rubik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4170682"/>
            <a:ext cx="538937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Профиль «Студент с подработкой» → лимит 471 ₽ в день → «А если куплю кроссовки за 3 000?» → 257 ₽ в день с объяснением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53200" y="1620521"/>
            <a:ext cx="4826000" cy="4424680"/>
          </a:xfrm>
          <a:prstGeom prst="roundRect">
            <a:avLst>
              <a:gd name="adj" fmla="val 4592"/>
            </a:avLst>
          </a:prstGeom>
          <a:solidFill>
            <a:srgbClr val="15202B"/>
          </a:solidFill>
          <a:ln/>
        </p:spPr>
      </p:sp>
      <p:sp>
        <p:nvSpPr>
          <p:cNvPr id="9" name="Text 7"/>
          <p:cNvSpPr/>
          <p:nvPr/>
        </p:nvSpPr>
        <p:spPr>
          <a:xfrm>
            <a:off x="6807200" y="1874521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Дневной лимит · профиль «Студент с подработкой»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07200" y="2214882"/>
            <a:ext cx="4318000" cy="762000"/>
          </a:xfrm>
          <a:prstGeom prst="roundRect">
            <a:avLst>
              <a:gd name="adj" fmla="val 16667"/>
            </a:avLst>
          </a:prstGeom>
          <a:solidFill>
            <a:srgbClr val="1F2D3C"/>
          </a:solidFill>
          <a:ln/>
        </p:spPr>
      </p:sp>
      <p:sp>
        <p:nvSpPr>
          <p:cNvPr id="11" name="Text 9"/>
          <p:cNvSpPr/>
          <p:nvPr/>
        </p:nvSpPr>
        <p:spPr>
          <a:xfrm>
            <a:off x="6985000" y="2395221"/>
            <a:ext cx="1774847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Сегодня можно</a:t>
            </a:r>
            <a:endParaRPr lang="en-US" sz="1300" dirty="0"/>
          </a:p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стипендии 14 дней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30502" y="2367282"/>
            <a:ext cx="12676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0A5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471 ₽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166021" y="3103882"/>
            <a:ext cx="2959179" cy="434340"/>
          </a:xfrm>
          <a:prstGeom prst="roundRect">
            <a:avLst>
              <a:gd name="adj" fmla="val 29240"/>
            </a:avLst>
          </a:prstGeom>
          <a:solidFill>
            <a:srgbClr val="F0A5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18421" y="3205482"/>
            <a:ext cx="27340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 если куплю кроссовки за 3 000?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07200" y="3665221"/>
            <a:ext cx="4318000" cy="1450975"/>
          </a:xfrm>
          <a:prstGeom prst="roundRect">
            <a:avLst>
              <a:gd name="adj" fmla="val 8753"/>
            </a:avLst>
          </a:prstGeom>
          <a:solidFill>
            <a:srgbClr val="243447"/>
          </a:solidFill>
          <a:ln/>
        </p:spPr>
      </p:sp>
      <p:sp>
        <p:nvSpPr>
          <p:cNvPr id="16" name="Text 14"/>
          <p:cNvSpPr/>
          <p:nvPr/>
        </p:nvSpPr>
        <p:spPr>
          <a:xfrm>
            <a:off x="6959600" y="3792221"/>
            <a:ext cx="4133596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Тогда лимит станет </a:t>
            </a:r>
            <a:r>
              <a:rPr lang="en-US" sz="13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257 ₽ в день</a:t>
            </a:r>
            <a:r>
              <a:rPr lang="en-US" sz="1300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вместо 471 ₽ до 10 октября. Расчёт: (6 600 − 3 000) / 14 дней. Подработку не учитываю, пока она не пришла. Если придёт подработка 5 000 ₽, после покупки останется 614 ₽ в день.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Чем мы отличаемся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2477770" cy="3181350"/>
          </a:xfrm>
          <a:prstGeom prst="roundRect">
            <a:avLst>
              <a:gd name="adj" fmla="val 6023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78000"/>
            <a:ext cx="2129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Приложение банка</a:t>
            </a:r>
            <a:endParaRPr lang="en-US" dirty="0">
              <a:latin typeface="Rubi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1080" y="2110739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300" dirty="0">
                <a:solidFill>
                  <a:srgbClr val="5F6877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Т-Банк, Сбер, Альфа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1080" y="2413000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ОТВЕЧАЕТ НА ВОПРОС</a:t>
            </a:r>
            <a:endParaRPr lang="en-US" sz="1400" dirty="0">
              <a:latin typeface="Rubik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1080" y="2715261"/>
            <a:ext cx="2129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300" i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«Куда ушли деньги?»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1080" y="3053082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ЧЕГО НЕ ХВАТАЕТ</a:t>
            </a:r>
            <a:endParaRPr lang="en-US" sz="1400" dirty="0">
              <a:latin typeface="Rubik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1080" y="3355339"/>
            <a:ext cx="212958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Показывает прошлые траты, а не сколько можно тратить до стипендии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03295" y="1572896"/>
            <a:ext cx="2477770" cy="3181350"/>
          </a:xfrm>
          <a:prstGeom prst="roundRect">
            <a:avLst>
              <a:gd name="adj" fmla="val 6023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8400" y="1778000"/>
            <a:ext cx="2129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Учёт расходов</a:t>
            </a:r>
            <a:endParaRPr lang="en-US" dirty="0">
              <a:latin typeface="Rubik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8400" y="2110739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300" dirty="0">
                <a:solidFill>
                  <a:srgbClr val="5F6877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Дзен-мани, CoinKeeper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08400" y="2413000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ОТВЕЧАЕТ НА ВОПРОС</a:t>
            </a:r>
            <a:endParaRPr lang="en-US" sz="1400" dirty="0">
              <a:latin typeface="Rubik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08400" y="271526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300" i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«Сколько я потратил по категориям?»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08400" y="3302000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ЧЕГО НЕ ХВАТАЕТ</a:t>
            </a:r>
            <a:endParaRPr lang="en-US" sz="1400" dirty="0">
              <a:latin typeface="Rubik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08400" y="3604261"/>
            <a:ext cx="212958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Нужно вести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учёт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вручную</a:t>
            </a:r>
            <a:r>
              <a:rPr lang="ru-RU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бюджет рассчитан на регулярный доход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0615" y="1572896"/>
            <a:ext cx="2477770" cy="3181350"/>
          </a:xfrm>
          <a:prstGeom prst="roundRect">
            <a:avLst>
              <a:gd name="adj" fmla="val 6023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5720" y="1778000"/>
            <a:ext cx="2129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Обычный AI-чат</a:t>
            </a:r>
            <a:endParaRPr lang="en-US" dirty="0">
              <a:latin typeface="Rubik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95720" y="2110739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300" dirty="0">
                <a:solidFill>
                  <a:srgbClr val="5F6877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общего назначения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95720" y="2413000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ОТВЕЧАЕТ НА ВОПРОС</a:t>
            </a:r>
            <a:endParaRPr lang="en-US" sz="1400" dirty="0">
              <a:latin typeface="Rubik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95720" y="2715261"/>
            <a:ext cx="2129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300" i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«Что посоветуешь?»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95720" y="3053082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ЧЕГО НЕ ХВАТАЕТ</a:t>
            </a:r>
            <a:endParaRPr lang="en-US" sz="1400" dirty="0">
              <a:latin typeface="Rubik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95720" y="3355339"/>
            <a:ext cx="212958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Данные нужно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вводить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самому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в цифрах может ошибиться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84285" y="1579246"/>
            <a:ext cx="2485390" cy="3168650"/>
          </a:xfrm>
          <a:prstGeom prst="roundRect">
            <a:avLst>
              <a:gd name="adj" fmla="val 5749"/>
            </a:avLst>
          </a:prstGeom>
          <a:solidFill>
            <a:srgbClr val="FBE9CC"/>
          </a:solidFill>
          <a:ln w="19050">
            <a:solidFill>
              <a:srgbClr val="F0A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3200" y="1788161"/>
            <a:ext cx="21295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Дневной лимит</a:t>
            </a:r>
            <a:endParaRPr lang="en-US" dirty="0">
              <a:latin typeface="Rubik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93200" y="2120900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300" dirty="0">
                <a:solidFill>
                  <a:srgbClr val="5F6877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наш продукт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93200" y="2423161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ОТВЕЧАЕТ НА ВОПРОС</a:t>
            </a:r>
            <a:endParaRPr lang="en-US" sz="1400" dirty="0">
              <a:latin typeface="Rubik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93200" y="2725421"/>
            <a:ext cx="212958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300" i="1" dirty="0">
                <a:solidFill>
                  <a:srgbClr val="1620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«Сколько можно потратить сегодня?»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93200" y="3312161"/>
            <a:ext cx="2129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ЧТО ДОБАВЛЯЕМ</a:t>
            </a:r>
            <a:endParaRPr lang="en-US" sz="1400" dirty="0">
              <a:latin typeface="Rubik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93200" y="3614421"/>
            <a:ext cx="212958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Учёт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нерегулярного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дохода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 числа считает код,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ответ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- обычными словами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2800" y="50114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Мы не заменяем приложение банка, а добавляем в него ответ на вопрос, которого там пока нет.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Arial Black" panose="020B0A04020102020204" pitchFamily="34" charset="0"/>
                <a:ea typeface="Rubik" pitchFamily="34" charset="-122"/>
                <a:cs typeface="Rubik" pitchFamily="34" charset="-120"/>
              </a:rPr>
              <a:t>Выгода для Т-Банка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3665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Пилот на 50 000 студентов, первый год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3373517" cy="1656080"/>
          </a:xfrm>
          <a:prstGeom prst="roundRect">
            <a:avLst>
              <a:gd name="adj" fmla="val 9011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13282"/>
            <a:ext cx="30522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Консервативный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1080" y="2395221"/>
            <a:ext cx="305220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Arial Black" panose="020B0A04020102020204" pitchFamily="34" charset="0"/>
                <a:ea typeface="Rubik" pitchFamily="34" charset="-122"/>
                <a:cs typeface="Rubik" pitchFamily="34" charset="-120"/>
              </a:rPr>
              <a:t>+0,5 млн ₽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1080" y="2893061"/>
            <a:ext cx="305220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окупается в первый год даже при минимальных долях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5392" y="1914525"/>
            <a:ext cx="3381216" cy="1643380"/>
          </a:xfrm>
          <a:prstGeom prst="roundRect">
            <a:avLst>
              <a:gd name="adj" fmla="val 8694"/>
            </a:avLst>
          </a:prstGeom>
          <a:solidFill>
            <a:srgbClr val="FBE9CC"/>
          </a:solidFill>
          <a:ln w="19050">
            <a:solidFill>
              <a:srgbClr val="F0A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4307" y="2123439"/>
            <a:ext cx="305228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Базовый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4307" y="2405382"/>
            <a:ext cx="30522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25A06"/>
                </a:solidFill>
                <a:latin typeface="Arial Black" panose="020B0A04020102020204" pitchFamily="34" charset="0"/>
                <a:ea typeface="Rubik"/>
                <a:cs typeface="Rubik" pitchFamily="34" charset="-120"/>
              </a:rPr>
              <a:t>+3,7 млн ₽</a:t>
            </a:r>
            <a:endParaRPr lang="en-US" sz="3200" dirty="0">
              <a:latin typeface="Arial Black" panose="020B0A04020102020204" pitchFamily="34" charset="0"/>
              <a:ea typeface="Rubik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4307" y="2903221"/>
            <a:ext cx="305228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≈ 130 ₽ выгоды на пользователя при 16 ₽ затрат на модель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2508" y="1908175"/>
            <a:ext cx="3373517" cy="1656080"/>
          </a:xfrm>
          <a:prstGeom prst="roundRect">
            <a:avLst>
              <a:gd name="adj" fmla="val 9011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7613" y="2113282"/>
            <a:ext cx="30522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Оптимистичный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07613" y="2395221"/>
            <a:ext cx="305220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Arial Black" panose="020B0A04020102020204" pitchFamily="34" charset="0"/>
                <a:ea typeface="Rubik"/>
                <a:cs typeface="Rubik" pitchFamily="34" charset="-120"/>
              </a:rPr>
              <a:t>+7,7 млн ₽</a:t>
            </a:r>
            <a:endParaRPr lang="en-US" sz="3200" dirty="0">
              <a:latin typeface="Arial Black" panose="020B0A04020102020204" pitchFamily="34" charset="0"/>
              <a:ea typeface="Rubik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07613" y="2893061"/>
            <a:ext cx="305220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при 2% новых клиентов и 3% подписок Pro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3821432"/>
            <a:ext cx="34882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Косвенная прибыль</a:t>
            </a:r>
            <a:endParaRPr lang="en-US" dirty="0">
              <a:latin typeface="Rubik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4116071"/>
            <a:ext cx="348821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Привлечение: до 3 000 ₽ за клиента («Приведи друга»). Удержание: ≈ 1 400 ₽ прибыли в год на студента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02614" y="3821432"/>
            <a:ext cx="3488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Rubik"/>
                <a:cs typeface="IBM Plex Sans" pitchFamily="34" charset="-120"/>
              </a:rPr>
              <a:t>Прямая прибыль</a:t>
            </a:r>
            <a:endParaRPr lang="en-US" dirty="0">
              <a:latin typeface="Rubik"/>
              <a:ea typeface="Rubik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02614" y="4116071"/>
            <a:ext cx="348829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Базовый лимит бесплатно, расширенный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режим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 в подписке Pro за 299 ₽ в месяц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92507" y="3821432"/>
            <a:ext cx="348829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16202E"/>
                </a:solidFill>
                <a:latin typeface="Rubik"/>
                <a:ea typeface="Rubik"/>
                <a:cs typeface="IBM Plex Sans" pitchFamily="34" charset="-120"/>
              </a:rPr>
              <a:t>Затраты</a:t>
            </a:r>
            <a:endParaRPr lang="en-US" dirty="0">
              <a:latin typeface="Rubik"/>
              <a:ea typeface="Rubik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92507" y="4116071"/>
            <a:ext cx="348829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GigaChat Lite - 0,065 ₽ за 1 000 токенов: ≈ 16 ₽ на пользователя в год (0,8 млн ₽); </a:t>
            </a:r>
            <a:r>
              <a:rPr lang="en-US" sz="14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разработка</a:t>
            </a:r>
            <a:r>
              <a:rPr lang="en-US" sz="14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-2 млн ₽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800" y="6024882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877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Источники: итоги Т-Банка за 2025 г.; Т—Ж, 2026; Финуслуги, 2026; тарифы GigaChat API для юрлиц. Доли пользователей и затраты на разработку — допущения команды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Развитие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325" y="1630046"/>
            <a:ext cx="3144044" cy="2543810"/>
          </a:xfrm>
          <a:prstGeom prst="roundRect">
            <a:avLst>
              <a:gd name="adj" fmla="val 5617"/>
            </a:avLst>
          </a:prstGeom>
          <a:solidFill>
            <a:srgbClr val="FBE9CC"/>
          </a:solidFill>
          <a:ln w="19050">
            <a:solidFill>
              <a:srgbClr val="F0A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2040" y="1889761"/>
            <a:ext cx="27033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01 · ХАКАТОН</a:t>
            </a:r>
            <a:endParaRPr lang="en-US" sz="1400" dirty="0">
              <a:latin typeface="Rubi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2040" y="2192021"/>
            <a:ext cx="270335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MVP</a:t>
            </a:r>
            <a:endParaRPr lang="en-US" sz="2800" dirty="0">
              <a:latin typeface="Rubik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82040" y="2616200"/>
            <a:ext cx="27033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Веб-сервис на синтетических данных: лимит, проверка покупки, </a:t>
            </a:r>
            <a:r>
              <a:rPr lang="en-US" sz="15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чат</a:t>
            </a: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на</a:t>
            </a: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LLM, проверочные примеры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82040" y="3756659"/>
            <a:ext cx="27033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Готово к защите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77494" y="2800350"/>
            <a:ext cx="3556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37869" y="1623696"/>
            <a:ext cx="3136503" cy="2556510"/>
          </a:xfrm>
          <a:prstGeom prst="roundRect">
            <a:avLst>
              <a:gd name="adj" fmla="val 5837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93774" y="1879600"/>
            <a:ext cx="27034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02 · БЛИЖАЙШИЙ ЭТАП</a:t>
            </a:r>
            <a:endParaRPr lang="en-US" sz="1400" dirty="0">
              <a:latin typeface="Rubik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93774" y="2181861"/>
            <a:ext cx="270343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Проверка</a:t>
            </a:r>
            <a:endParaRPr lang="en-US" sz="2800" dirty="0">
              <a:latin typeface="Rubik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93774" y="2606039"/>
            <a:ext cx="270343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Тест с 10 студентами: цель — не меньше 70% оценок 4–5 из 5. Точность расчёта на реальных выписках. Поиск подписок и цели накопления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9147" y="2800350"/>
            <a:ext cx="3556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39522" y="1623696"/>
            <a:ext cx="3136503" cy="2556510"/>
          </a:xfrm>
          <a:prstGeom prst="roundRect">
            <a:avLst>
              <a:gd name="adj" fmla="val 5837"/>
            </a:avLst>
          </a:prstGeom>
          <a:solidFill>
            <a:srgbClr val="FDFBF6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95427" y="1879600"/>
            <a:ext cx="27034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B25A06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03 · ДАЛЬШЕ</a:t>
            </a:r>
            <a:endParaRPr lang="en-US" sz="1400" dirty="0">
              <a:latin typeface="Rubik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495427" y="2181861"/>
            <a:ext cx="270343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00" b="1" dirty="0">
                <a:solidFill>
                  <a:srgbClr val="16202E"/>
                </a:solidFill>
                <a:latin typeface="Rubik"/>
                <a:ea typeface="IBM Plex Sans" pitchFamily="34" charset="-122"/>
                <a:cs typeface="IBM Plex Sans" pitchFamily="34" charset="-120"/>
              </a:rPr>
              <a:t>Масштаб</a:t>
            </a:r>
            <a:endParaRPr lang="en-US" sz="2800" dirty="0">
              <a:latin typeface="Rubik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495427" y="2606039"/>
            <a:ext cx="270343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Модуль в приложении Т-Банка на реальных транзакциях с согласия клиента. B2B2C для других банков. Молодые специалисты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12800" y="4488179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Главная гипотеза пилота: студенты открывают лимит каждый день — это и есть удержание клиента для банка.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Times New Roman" panose="02020603050405020304" pitchFamily="18" charset="0"/>
                <a:ea typeface="Rubik" pitchFamily="34" charset="-122"/>
                <a:cs typeface="Times New Roman" panose="02020603050405020304" pitchFamily="18" charset="0"/>
              </a:rPr>
              <a:t>Итог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5839247" cy="2258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700" b="1" dirty="0">
                <a:solidFill>
                  <a:srgbClr val="B25A0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Проблема.</a:t>
            </a:r>
            <a:r>
              <a:rPr lang="en-US" sz="17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1,6 млн студентов с нерегулярным доходом не знают, сколько можно тратить до следующего поступления.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520266"/>
            <a:ext cx="5839247" cy="2258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700" b="1" dirty="0">
                <a:solidFill>
                  <a:srgbClr val="B25A0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Решение.</a:t>
            </a:r>
            <a:r>
              <a:rPr lang="en-US" sz="17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Одна цифра на сегодня: GigaChat понимает вопрос, код считает, ответ объясняет допущения.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254329"/>
            <a:ext cx="5839247" cy="2258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700" b="1" dirty="0">
                <a:solidFill>
                  <a:srgbClr val="B25A0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Ценность для студента.</a:t>
            </a:r>
            <a:r>
              <a:rPr lang="en-US" sz="17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Нехватка денег видна заранее, а не в последний день,  есть время решить, что урезать.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" y="3988387"/>
            <a:ext cx="5621867" cy="1927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700" b="1" dirty="0">
                <a:solidFill>
                  <a:srgbClr val="B25A0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Для Т-Банка.</a:t>
            </a:r>
            <a:r>
              <a:rPr lang="en-US" sz="1700" dirty="0">
                <a:solidFill>
                  <a:srgbClr val="16202E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Лояльные молодые клиенты и +3,7 млн ₽ в базовом сценарии пилота.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4665730"/>
            <a:ext cx="5545667" cy="1159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Ограничения: не увеличивает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доход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 заранее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показывает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дефицит</a:t>
            </a:r>
            <a:r>
              <a:rPr lang="ru-RU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работает на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синтетических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данных</a:t>
            </a:r>
            <a:r>
              <a:rPr lang="ru-RU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,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 не даёт инвестиционных советов и не проводит операций.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21811" y="1563369"/>
            <a:ext cx="3652097" cy="3652097"/>
          </a:xfrm>
          <a:prstGeom prst="roundRect">
            <a:avLst>
              <a:gd name="adj" fmla="val 6425"/>
            </a:avLst>
          </a:prstGeom>
          <a:solidFill>
            <a:srgbClr val="FDFBF6"/>
          </a:solidFill>
          <a:ln w="12700">
            <a:solidFill>
              <a:srgbClr val="D9D2C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791574" y="3154680"/>
            <a:ext cx="1512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5F68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[QR-код на отчёт]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03383" y="5425861"/>
            <a:ext cx="3488952" cy="121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1950"/>
              </a:lnSpc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GitHub: 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  <a:hlinkClick r:id="rId3"/>
              </a:rPr>
              <a:t>https://github.com/Tvorog108/Xakaton_27_09_27</a:t>
            </a:r>
            <a:endParaRPr lang="ru-RU" sz="1600" dirty="0">
              <a:solidFill>
                <a:srgbClr val="4A5566"/>
              </a:solidFill>
              <a:latin typeface="Cambria" panose="02040503050406030204" pitchFamily="18" charset="0"/>
              <a:ea typeface="Cambria" panose="02040503050406030204" pitchFamily="18" charset="0"/>
              <a:cs typeface="IBM Plex Sans" pitchFamily="34" charset="-120"/>
            </a:endParaRPr>
          </a:p>
          <a:p>
            <a:pPr algn="ctr">
              <a:lnSpc>
                <a:spcPts val="1950"/>
              </a:lnSpc>
            </a:pP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Telegram </a:t>
            </a:r>
            <a:r>
              <a:rPr lang="en-US" sz="1600" dirty="0" err="1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капитана</a:t>
            </a:r>
            <a:r>
              <a:rPr lang="en-US" sz="1600" dirty="0">
                <a:solidFill>
                  <a:srgbClr val="4A5566"/>
                </a:solidFill>
                <a:latin typeface="Cambria" panose="02040503050406030204" pitchFamily="18" charset="0"/>
                <a:ea typeface="Cambria" panose="02040503050406030204" pitchFamily="18" charset="0"/>
                <a:cs typeface="IBM Plex Sans" pitchFamily="34" charset="-120"/>
              </a:rPr>
              <a:t>: @SergeevBogdan123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2BEC40-2321-4F0F-B62C-7E6BDB686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811" y="1395305"/>
            <a:ext cx="3793067" cy="3899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2011</Words>
  <Application>Microsoft Office PowerPoint</Application>
  <PresentationFormat>Широкоэкранный</PresentationFormat>
  <Paragraphs>144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Cambria</vt:lpstr>
      <vt:lpstr>Century</vt:lpstr>
      <vt:lpstr>IBM Plex Sans</vt:lpstr>
      <vt:lpstr>Rubik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Дневной лимит — защита</dc:title>
  <dc:subject>PptxGenJS Presentation</dc:subject>
  <dc:creator>PptxGenJS</dc:creator>
  <cp:lastModifiedBy>vadim.baryshov@yandex.ru</cp:lastModifiedBy>
  <cp:revision>19</cp:revision>
  <dcterms:created xsi:type="dcterms:W3CDTF">2026-09-26T15:49:40Z</dcterms:created>
  <dcterms:modified xsi:type="dcterms:W3CDTF">2026-09-27T03:45:40Z</dcterms:modified>
</cp:coreProperties>
</file>