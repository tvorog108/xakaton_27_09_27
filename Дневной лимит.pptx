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3" d="100"/>
          <a:sy n="113" d="100"/>
        </p:scale>
        <p:origin x="474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898564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Здравствуйте! Мы команда проекта «Дневной лимит». За пять минут покажем, какую проблему студентов мы решаем, как работает наш AI-ассистент и зачем он Т-Банку. Справа на слайде — главное, что видит пользователь: одна цифра, сколько можно потратить сегодня.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Наш пользователь — студент очной формы с нерегулярным доходом: небольшая стипендия плюс подработка. Его проблема простая: деньги заканчиваются раньше, чем приходят новые. Причины подтверждены исследованиями. 68% молодых совершают импульсивные покупки — маркетплейсы, кофе, доставка. 57% тратят сразу после поступления денег. И 61% студентов работают, поэтому доход приходит нерегулярно и классический бюджет на месяц не работает. Студенту не нужен курс финграмотности — ему нужен ответ на один вопрос: сколько можно потратить сегодня. И в этом наша ценность: студент видит нехватку денег заранее, а не в последний день, и успевает решить, что урезать.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Сколько таких студентов. В России 4,3 миллиона студентов вузов. Из них очно учатся 62%, и 61% совмещают учёбу с работой — это наш сегмент, около 1,6 миллиона человек. Половина из них уже пользуется ИИ-сервисами, то есть около 800 тысяч готовы к формату «спросил — получил ответ». Рынок растёт: студентов стало на 9,6% больше, чем в 2021 году, а подрабатывать планируют 73%. И важный факт из Google Trends: запрос «бюджет» ищут почти в двадцать раз чаще, чем «финансовую грамотность». Люди ищут инструмент, а не обучение.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Коротко о принципе — в демо видно, что ассистент отвечает, а здесь — почему ответу можно верить. Студент пишет вопрос обычными словами, например: «хватит ли до десятого, если куплю кроссовки за три тысячи?». Языковая модель GigaChat понимает вопрос и сама выбирает нужный расчёт — это tool calling. Считает не модель, а код на Python, поэтому цифры точные. Потом модель объясняет результат: на каких данных он основан, какие допущения и что делать дальше. Правило простое: баланс минус обязательные платежи, делим на дни до стипендии. Подработку учитываем, только когда она пришла, — поэтому лимит не опирается на деньги, которых ещё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Это не макет, а работающий сервис — он открывается по ссылке без регистрации. Уже работает: загрузка данных — готовый профиль, свой файл или форма; расчёт дневного лимита и прогноз; чат на GigaChat, где модель выбирает расчёт, а код считает; проверка покупки и разбор трат по категориям. Сервис честно сообщает, если данных не хватает или они ошибочные, и отказывается давать инвестсоветы. [Запускаем скринкаст; копия — на флешке.] Сценарий: студент с подработкой видит лимит 471 рубль, спрашивает про кроссовки за три тысячи — и получает пересчёт: 257 рублей в день, с объяснением.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Чем мы отличаемся. Каждое решение отвечает на свой вопрос. Приложение банка — куда ушли деньги, то есть показывает прошлое. Приложения учёта — сколько потрачено по категориям, но учёт надо вести вручную, и бюджет рассчитан на регулярную зарплату. Обычный AI-чат даст совет, но данные в него нужно вводить самому, и в цифрах он может ошибиться. Мы отвечаем на вопрос, который студенту нужен каждый день: сколько можно потратить сегодня. Поэтому мы не конкурируем с приложением банка, а дополняем его. Ближайший зарубежный аналог, Cleo, в России недоступен.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Зачем это Т-Банку. Для студента базовый лимит бесплатный. Банк зарабатывает косвенно: студенты приходят в банк ради функции — это экономия на привлечении, ориентир — до трёх тысяч рублей по «Приведи друга». И удержание: клиент, который каждый день открывает приложение ради лимита, не уходит в другой банк. Прямая прибыль — расширенный режим в подписке Pro за 299 рублей. Главная переменная затрата — запросы к GigaChat Lite: около 16 рублей на пользователя в год. На пилоте в 50 тысяч студентов пилот окупается уже в первый год во всех трёх сценариях: от плюс 0,5 до плюс 7,7 миллиона, в базовом — плюс 3,7 миллиона. Сложные вопросы можно отдавать GigaChat Pro, но суммы всё равно считает код.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Как проект будет развиваться. Сейчас, на хакатоне, у нас работающий MVP на синтетических данных. Следующий шаг — проверка с пользователями: даём сервис десяти студентам, цель — чтобы не меньше 70% оценили ответ на 4 или 5 из 5, и сверяем точность расчёта на реальных выписках. Параллельно доводим поиск подписок и цели накопления. Дальше — модуль внутри приложения Т-Банка на реальных транзакциях с согласия клиента, затем другие банки и молодые специалисты. Главное, что проверяем в пилоте: открывают ли студенты лимит каждый день — это и есть удержание для банка.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Итог. Проблема — 1,6 миллиона студентов с нерегулярным доходом не понимают, сколько можно тратить до следующего поступления. Наше решение — одна цифра на сегодня: GigaChat понимает вопрос, код считает, ответ показывает допущения. Ценность для студента — он видит нехватку денег заранее и успевает решить, что урезать. Честно о границах: доход мы не увеличиваем, работаем на синтетических данных и не даём инвестсоветов. Для Т-Банка это лояльные молодые клиенты и пилот, который окупается в первый год. По QR — полный отчёт с финмоделью. Спасибо, готовы ответить на вопросы.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Tvorog108/Xakaton_27_09_27" TargetMode="External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39125" y="1914525"/>
            <a:ext cx="3130550" cy="2058670"/>
          </a:xfrm>
          <a:prstGeom prst="roundRect">
            <a:avLst>
              <a:gd name="adj" fmla="val 9408"/>
            </a:avLst>
          </a:prstGeom>
          <a:solidFill>
            <a:srgbClr val="FDFBF6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8549640" y="222504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 можно потратить</a:t>
            </a:r>
            <a:endParaRPr lang="en-US" sz="1400" dirty="0"/>
          </a:p>
        </p:txBody>
      </p:sp>
      <p:sp>
        <p:nvSpPr>
          <p:cNvPr id="4" name="Text 2"/>
          <p:cNvSpPr/>
          <p:nvPr/>
        </p:nvSpPr>
        <p:spPr>
          <a:xfrm>
            <a:off x="8549640" y="2524760"/>
            <a:ext cx="2584806" cy="863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6600"/>
              </a:lnSpc>
              <a:buNone/>
            </a:pPr>
            <a:r>
              <a:rPr lang="en-US" sz="60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6000" dirty="0"/>
          </a:p>
        </p:txBody>
      </p:sp>
      <p:sp>
        <p:nvSpPr>
          <p:cNvPr id="5" name="Text 3"/>
          <p:cNvSpPr/>
          <p:nvPr/>
        </p:nvSpPr>
        <p:spPr>
          <a:xfrm>
            <a:off x="8549640" y="3413760"/>
            <a:ext cx="258480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стипендии 14 дней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812800" y="81280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ХАКАТОН «ПЯТЫЙ ЭЛЕМЕНТ» · КЕЙС 1 - AI В ЛИЧНЫХ ФИНАНСАХ</a:t>
            </a:r>
            <a:endParaRPr lang="en-US" sz="1400" dirty="0">
              <a:latin typeface="Century" panose="020406040505050203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1893570"/>
            <a:ext cx="7194550" cy="1803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7000"/>
              </a:lnSpc>
              <a:buNone/>
            </a:pPr>
            <a:r>
              <a:rPr lang="en-US" sz="70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Дневной лимит</a:t>
            </a:r>
            <a:endParaRPr lang="en-US" sz="7000" dirty="0"/>
          </a:p>
        </p:txBody>
      </p:sp>
      <p:sp>
        <p:nvSpPr>
          <p:cNvPr id="8" name="Text 6"/>
          <p:cNvSpPr/>
          <p:nvPr/>
        </p:nvSpPr>
        <p:spPr>
          <a:xfrm>
            <a:off x="812800" y="3874770"/>
            <a:ext cx="7194550" cy="11150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860"/>
              </a:lnSpc>
              <a:buNone/>
            </a:pPr>
            <a:r>
              <a:rPr lang="en-US" sz="2200" dirty="0">
                <a:solidFill>
                  <a:srgbClr val="4A5566"/>
                </a:solidFill>
                <a:latin typeface="Century" panose="02040604050505020304" pitchFamily="18" charset="0"/>
                <a:ea typeface="IBM Plex Sans" pitchFamily="34" charset="-122"/>
                <a:cs typeface="IBM Plex Sans" pitchFamily="34" charset="-120"/>
              </a:rPr>
              <a:t>AI-ассистент, который говорит студенту, сколько можно потратить сегодня, чтобы дотянуть до следующего поступления</a:t>
            </a:r>
            <a:endParaRPr lang="en-US" sz="2200" dirty="0">
              <a:latin typeface="Century" panose="020406040505050203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5796280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Сергеев Б. · Барышов В. </a:t>
            </a:r>
            <a:r>
              <a:rPr lang="ru-RU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Красноярск, 27 сентября 2026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Деньги кончаются до стипендии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674495"/>
            <a:ext cx="4565650" cy="4164330"/>
          </a:xfrm>
          <a:prstGeom prst="roundRect">
            <a:avLst>
              <a:gd name="adj" fmla="val 358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122680" y="1981200"/>
            <a:ext cx="407080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КТО ПОЛЬЗОВАТЕЛЬ</a:t>
            </a:r>
            <a:endParaRPr lang="en-US" sz="16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122680" y="23723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18–25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лет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форма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Стипендия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2 296 ₽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плюс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подработка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доставка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розница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общепит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Приложение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банка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есть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ведёт</a:t>
            </a: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6" name="Image 0" descr="line"/>
          <p:cNvPicPr>
            <a:picLocks noChangeAspect="1"/>
          </p:cNvPicPr>
          <p:nvPr/>
        </p:nvPicPr>
        <p:blipFill>
          <a:blip r:embed="rId3"/>
          <a:srcRect t="-3300" b="-3300"/>
          <a:stretch/>
        </p:blipFill>
        <p:spPr>
          <a:xfrm>
            <a:off x="1122680" y="3545840"/>
            <a:ext cx="3952240" cy="20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122680" y="3743960"/>
            <a:ext cx="4070807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i="1" dirty="0">
                <a:solidFill>
                  <a:srgbClr val="4A5566"/>
                </a:solidFill>
                <a:latin typeface="Arial" panose="020B0604020202020204" pitchFamily="34" charset="0"/>
                <a:ea typeface="IBM Plex Sans" pitchFamily="34" charset="-122"/>
                <a:cs typeface="Arial" panose="020B0604020202020204" pitchFamily="34" charset="0"/>
              </a:rPr>
              <a:t>«Когда на карте есть деньги, хочу понимать, сколько можно потратить сегодня, чтобы дотянуть до следующего поступления и не занимать»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8" name="Text 5"/>
          <p:cNvSpPr/>
          <p:nvPr/>
        </p:nvSpPr>
        <p:spPr>
          <a:xfrm>
            <a:off x="5791200" y="167132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68%</a:t>
            </a:r>
            <a:endParaRPr lang="en-US" sz="4800" dirty="0"/>
          </a:p>
        </p:txBody>
      </p:sp>
      <p:sp>
        <p:nvSpPr>
          <p:cNvPr id="9" name="Text 6"/>
          <p:cNvSpPr/>
          <p:nvPr/>
        </p:nvSpPr>
        <p:spPr>
          <a:xfrm>
            <a:off x="5791200" y="233680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молодых делают импульсивные покупки: маркетплейсы, кофе, доставка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Text 7"/>
          <p:cNvSpPr/>
          <p:nvPr/>
        </p:nvSpPr>
        <p:spPr>
          <a:xfrm>
            <a:off x="5791200" y="329946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57%</a:t>
            </a:r>
            <a:endParaRPr lang="en-US" sz="4800" dirty="0"/>
          </a:p>
        </p:txBody>
      </p:sp>
      <p:sp>
        <p:nvSpPr>
          <p:cNvPr id="11" name="Text 8"/>
          <p:cNvSpPr/>
          <p:nvPr/>
        </p:nvSpPr>
        <p:spPr>
          <a:xfrm>
            <a:off x="5791200" y="3964940"/>
            <a:ext cx="5755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тратят «свободные деньги» сразу после поступления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Text 9"/>
          <p:cNvSpPr/>
          <p:nvPr/>
        </p:nvSpPr>
        <p:spPr>
          <a:xfrm>
            <a:off x="5791200" y="4678680"/>
            <a:ext cx="5755640" cy="6654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5040"/>
              </a:lnSpc>
              <a:buNone/>
            </a:pPr>
            <a:r>
              <a:rPr lang="en-US" sz="4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61,2%</a:t>
            </a:r>
            <a:endParaRPr lang="en-US" sz="4800" dirty="0"/>
          </a:p>
        </p:txBody>
      </p:sp>
      <p:sp>
        <p:nvSpPr>
          <p:cNvPr id="13" name="Text 10"/>
          <p:cNvSpPr/>
          <p:nvPr/>
        </p:nvSpPr>
        <p:spPr>
          <a:xfrm>
            <a:off x="5791200" y="5344160"/>
            <a:ext cx="5755640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работают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доход нерегулярный, «бюджет на месяц» не работает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4" name="Text 11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СберСтрахование жизни и Работа.ру, июнь 2026 (18–35 лет); Ventra Go! и Нетология, 2024; ППТ.ру, 2026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 err="1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Сегмент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</a:t>
            </a:r>
            <a:r>
              <a:rPr lang="ru-RU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-</a:t>
            </a: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 1,6 млн студентов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7551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4,3 млн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0" y="1671320"/>
            <a:ext cx="5080000" cy="558800"/>
          </a:xfrm>
          <a:prstGeom prst="roundRect">
            <a:avLst>
              <a:gd name="adj" fmla="val 13636"/>
            </a:avLst>
          </a:prstGeom>
          <a:solidFill>
            <a:srgbClr val="D9D2C3"/>
          </a:solidFill>
          <a:ln/>
        </p:spPr>
      </p:sp>
      <p:sp>
        <p:nvSpPr>
          <p:cNvPr id="5" name="Text 3"/>
          <p:cNvSpPr/>
          <p:nvPr/>
        </p:nvSpPr>
        <p:spPr>
          <a:xfrm>
            <a:off x="7975600" y="1835150"/>
            <a:ext cx="350570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все студенты вузов России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24663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B25A06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1,6 млн</a:t>
            </a:r>
            <a:endParaRPr lang="en-US" sz="2800" dirty="0"/>
          </a:p>
        </p:txBody>
      </p:sp>
      <p:sp>
        <p:nvSpPr>
          <p:cNvPr id="7" name="Shape 5"/>
          <p:cNvSpPr/>
          <p:nvPr/>
        </p:nvSpPr>
        <p:spPr>
          <a:xfrm>
            <a:off x="2743200" y="2382520"/>
            <a:ext cx="1892300" cy="558800"/>
          </a:xfrm>
          <a:prstGeom prst="roundRect">
            <a:avLst>
              <a:gd name="adj" fmla="val 13636"/>
            </a:avLst>
          </a:prstGeom>
          <a:solidFill>
            <a:srgbClr val="F0A53A"/>
          </a:solidFill>
          <a:ln/>
        </p:spPr>
      </p:sp>
      <p:sp>
        <p:nvSpPr>
          <p:cNvPr id="8" name="Text 6"/>
          <p:cNvSpPr/>
          <p:nvPr/>
        </p:nvSpPr>
        <p:spPr>
          <a:xfrm>
            <a:off x="4787900" y="2546350"/>
            <a:ext cx="6789039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очная форма и совмещают учёбу с работой: × 62% × 61,2%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b="1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наш сегмент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9" name="Text 7"/>
          <p:cNvSpPr/>
          <p:nvPr/>
        </p:nvSpPr>
        <p:spPr>
          <a:xfrm>
            <a:off x="812800" y="3177541"/>
            <a:ext cx="1831340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0,8 млн</a:t>
            </a:r>
            <a:endParaRPr lang="en-US" sz="2800" dirty="0"/>
          </a:p>
        </p:txBody>
      </p:sp>
      <p:sp>
        <p:nvSpPr>
          <p:cNvPr id="10" name="Shape 8"/>
          <p:cNvSpPr/>
          <p:nvPr/>
        </p:nvSpPr>
        <p:spPr>
          <a:xfrm>
            <a:off x="2743200" y="3093720"/>
            <a:ext cx="946150" cy="558800"/>
          </a:xfrm>
          <a:prstGeom prst="roundRect">
            <a:avLst>
              <a:gd name="adj" fmla="val 13636"/>
            </a:avLst>
          </a:prstGeom>
          <a:solidFill>
            <a:srgbClr val="2B5CC8"/>
          </a:solidFill>
          <a:ln/>
        </p:spPr>
      </p:sp>
      <p:sp>
        <p:nvSpPr>
          <p:cNvPr id="11" name="Text 9"/>
          <p:cNvSpPr/>
          <p:nvPr/>
        </p:nvSpPr>
        <p:spPr>
          <a:xfrm>
            <a:off x="3841750" y="3257550"/>
            <a:ext cx="7763573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уже пользуются ИИ-сервисами (51%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молодёжи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18-24) 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готовы к формату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15975" y="4011295"/>
            <a:ext cx="3380264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21080" y="4216400"/>
            <a:ext cx="3059155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+9,6%</a:t>
            </a:r>
            <a:endParaRPr lang="en-US" sz="2800" dirty="0"/>
          </a:p>
        </p:txBody>
      </p:sp>
      <p:sp>
        <p:nvSpPr>
          <p:cNvPr id="14" name="Text 12"/>
          <p:cNvSpPr/>
          <p:nvPr/>
        </p:nvSpPr>
        <p:spPr>
          <a:xfrm>
            <a:off x="1021080" y="4658361"/>
            <a:ext cx="3059155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в 2024 г. к 2021 г. 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-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рынок растёт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4405789" y="4011295"/>
            <a:ext cx="3380343" cy="1520825"/>
          </a:xfrm>
          <a:prstGeom prst="roundRect">
            <a:avLst>
              <a:gd name="adj" fmla="val 8142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610894" y="4216400"/>
            <a:ext cx="3059237" cy="4165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08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73%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610894" y="4658361"/>
            <a:ext cx="3059237" cy="69405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студентов и абитуриентов подрабатывают или планируют в 2026 г.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812800" y="6238241"/>
            <a:ext cx="1088339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ИСИЭЗ НИУ ВШЭ, 2025; Ventra Go! и Нетология, 2024; Авито, 2026; Mediascope, 2025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ИИ понимает, код считает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1 · ВОПРОС</a:t>
            </a:r>
            <a:endParaRPr lang="en-US" sz="16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067561"/>
            <a:ext cx="1862735" cy="513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Обычными словами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021080" y="2631441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«Хватит ли до 10-го, если куплю кроссовки за 3 000?»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7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3139440" y="2449830"/>
            <a:ext cx="355600" cy="203200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359981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380492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2 · LLM</a:t>
            </a:r>
            <a:endParaRPr lang="en-US" sz="1600" dirty="0">
              <a:latin typeface="Rubik"/>
            </a:endParaRPr>
          </a:p>
        </p:txBody>
      </p:sp>
      <p:sp>
        <p:nvSpPr>
          <p:cNvPr id="10" name="Text 7"/>
          <p:cNvSpPr/>
          <p:nvPr/>
        </p:nvSpPr>
        <p:spPr>
          <a:xfrm>
            <a:off x="380492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Выбирает расчёт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380492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Tool calling: вызывает check_purchase с ценой 3 000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5923280" y="2449830"/>
            <a:ext cx="355600" cy="20320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6380480" y="1569720"/>
            <a:ext cx="2214880" cy="1963420"/>
          </a:xfrm>
          <a:prstGeom prst="roundRect">
            <a:avLst>
              <a:gd name="adj" fmla="val 6468"/>
            </a:avLst>
          </a:prstGeom>
          <a:solidFill>
            <a:srgbClr val="15202B"/>
          </a:solidFill>
          <a:ln/>
        </p:spPr>
      </p:sp>
      <p:sp>
        <p:nvSpPr>
          <p:cNvPr id="14" name="Text 10"/>
          <p:cNvSpPr/>
          <p:nvPr/>
        </p:nvSpPr>
        <p:spPr>
          <a:xfrm>
            <a:off x="6583680" y="177292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F0A53A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3 · КОД</a:t>
            </a:r>
            <a:endParaRPr lang="en-US" sz="1600" dirty="0">
              <a:latin typeface="Rubik"/>
            </a:endParaRPr>
          </a:p>
        </p:txBody>
      </p:sp>
      <p:sp>
        <p:nvSpPr>
          <p:cNvPr id="15" name="Text 11"/>
          <p:cNvSpPr/>
          <p:nvPr/>
        </p:nvSpPr>
        <p:spPr>
          <a:xfrm>
            <a:off x="6583680" y="2062480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4F1EA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Считает точно</a:t>
            </a:r>
            <a:endParaRPr lang="en-US" sz="1600" dirty="0"/>
          </a:p>
        </p:txBody>
      </p:sp>
      <p:sp>
        <p:nvSpPr>
          <p:cNvPr id="16" name="Text 12"/>
          <p:cNvSpPr/>
          <p:nvPr/>
        </p:nvSpPr>
        <p:spPr>
          <a:xfrm>
            <a:off x="6583680" y="2382520"/>
            <a:ext cx="1862735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B9C6D3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(6 600 − 3 000) / 14 дней = 257 ₽ в день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7" name="Image 2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8696960" y="2449830"/>
            <a:ext cx="355600" cy="203200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157335" y="1572895"/>
            <a:ext cx="2218690" cy="1957070"/>
          </a:xfrm>
          <a:prstGeom prst="roundRect">
            <a:avLst>
              <a:gd name="adj" fmla="val 632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9362440" y="1778000"/>
            <a:ext cx="1862735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6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4 · LLM</a:t>
            </a:r>
            <a:endParaRPr lang="en-US" sz="1600" dirty="0">
              <a:latin typeface="Rubik"/>
            </a:endParaRPr>
          </a:p>
        </p:txBody>
      </p:sp>
      <p:sp>
        <p:nvSpPr>
          <p:cNvPr id="20" name="Text 15"/>
          <p:cNvSpPr/>
          <p:nvPr/>
        </p:nvSpPr>
        <p:spPr>
          <a:xfrm>
            <a:off x="9362440" y="2067561"/>
            <a:ext cx="1862735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Объясняет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9362440" y="2387600"/>
            <a:ext cx="1862735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Результат, данные, допущения и что делать дальше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Shape 17"/>
          <p:cNvSpPr/>
          <p:nvPr/>
        </p:nvSpPr>
        <p:spPr>
          <a:xfrm>
            <a:off x="812800" y="3787141"/>
            <a:ext cx="10566400" cy="1016000"/>
          </a:xfrm>
          <a:prstGeom prst="roundRect">
            <a:avLst>
              <a:gd name="adj" fmla="val 12500"/>
            </a:avLst>
          </a:prstGeom>
          <a:solidFill>
            <a:srgbClr val="FBE9CC"/>
          </a:solidFill>
          <a:ln/>
        </p:spPr>
      </p:sp>
      <p:sp>
        <p:nvSpPr>
          <p:cNvPr id="23" name="Text 18"/>
          <p:cNvSpPr/>
          <p:nvPr/>
        </p:nvSpPr>
        <p:spPr>
          <a:xfrm>
            <a:off x="1066800" y="3990341"/>
            <a:ext cx="1036015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20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Лимит = (баланс − обязательные платежи до стипендии) / дни до стипендии</a:t>
            </a:r>
            <a:endParaRPr lang="en-US" sz="2000" dirty="0">
              <a:latin typeface="Rubik"/>
            </a:endParaRPr>
          </a:p>
        </p:txBody>
      </p:sp>
      <p:sp>
        <p:nvSpPr>
          <p:cNvPr id="24" name="Text 19"/>
          <p:cNvSpPr/>
          <p:nvPr/>
        </p:nvSpPr>
        <p:spPr>
          <a:xfrm>
            <a:off x="1066800" y="4351020"/>
            <a:ext cx="10360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Подработка учитывается, только когда пришла. Не хватает на платежи — лимит 0 и сразу виден дефицит.</a:t>
            </a:r>
            <a:endParaRPr lang="en-US" sz="1600" dirty="0"/>
          </a:p>
        </p:txBody>
      </p:sp>
      <p:sp>
        <p:nvSpPr>
          <p:cNvPr id="25" name="Text 20"/>
          <p:cNvSpPr/>
          <p:nvPr/>
        </p:nvSpPr>
        <p:spPr>
          <a:xfrm>
            <a:off x="812800" y="5057141"/>
            <a:ext cx="10883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Без ИИ это ещё один экран с цифрами. ИИ не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считает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суммы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поэтому не может «придумать» остаток.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MVP: что уже работает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РЕАЛИЗОВАНО</a:t>
            </a:r>
            <a:endParaRPr lang="en-US" dirty="0">
              <a:latin typeface="Rubik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1960882"/>
            <a:ext cx="5389372" cy="17678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Загрузка данных: готовые профили, свой JSON / CSV, форма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Дневной лимит и прогноз «хватит / не хватит»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 на GigaChat: вопрос → расчёт кодом → объяснение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Проверка покупки и разбор трат по категориям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  <a:p>
            <a:pPr marL="213360" indent="-175768" algn="l">
              <a:lnSpc>
                <a:spcPts val="1960"/>
              </a:lnSpc>
              <a:buSzPct val="100000"/>
              <a:buChar char="•"/>
            </a:pPr>
            <a:r>
              <a:rPr lang="en-US" sz="15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Сообщения о пустых и ошибочных данных, отказ на инвестсоветы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830321"/>
            <a:ext cx="538937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СЦЕНАРИЙ ВЖИВУЮ</a:t>
            </a:r>
            <a:endParaRPr lang="en-US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812800" y="4170682"/>
            <a:ext cx="5389372" cy="7721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Профиль «Студент с подработкой» → лимит 471 ₽ в день → «А если куплю кроссовки за 3 000?» → 257 ₽ в день с объяснением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6553200" y="1620521"/>
            <a:ext cx="4826000" cy="4424680"/>
          </a:xfrm>
          <a:prstGeom prst="roundRect">
            <a:avLst>
              <a:gd name="adj" fmla="val 4592"/>
            </a:avLst>
          </a:prstGeom>
          <a:solidFill>
            <a:srgbClr val="15202B"/>
          </a:solidFill>
          <a:ln/>
        </p:spPr>
      </p:sp>
      <p:sp>
        <p:nvSpPr>
          <p:cNvPr id="9" name="Text 7"/>
          <p:cNvSpPr/>
          <p:nvPr/>
        </p:nvSpPr>
        <p:spPr>
          <a:xfrm>
            <a:off x="6807200" y="1874521"/>
            <a:ext cx="4447540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Дневной лимит · профиль «Студент с подработкой»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07200" y="2214882"/>
            <a:ext cx="4318000" cy="762000"/>
          </a:xfrm>
          <a:prstGeom prst="roundRect">
            <a:avLst>
              <a:gd name="adj" fmla="val 16667"/>
            </a:avLst>
          </a:prstGeom>
          <a:solidFill>
            <a:srgbClr val="1F2D3C"/>
          </a:solidFill>
          <a:ln/>
        </p:spPr>
      </p:sp>
      <p:sp>
        <p:nvSpPr>
          <p:cNvPr id="11" name="Text 9"/>
          <p:cNvSpPr/>
          <p:nvPr/>
        </p:nvSpPr>
        <p:spPr>
          <a:xfrm>
            <a:off x="6985000" y="2395221"/>
            <a:ext cx="1774847" cy="4546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Сегодня можно</a:t>
            </a:r>
            <a:endParaRPr lang="en-US" sz="1300" dirty="0"/>
          </a:p>
          <a:p>
            <a:pPr marL="0" indent="0" algn="l">
              <a:lnSpc>
                <a:spcPts val="1690"/>
              </a:lnSpc>
              <a:buNone/>
            </a:pPr>
            <a:r>
              <a:rPr lang="en-US" sz="1300" dirty="0">
                <a:solidFill>
                  <a:srgbClr val="B9C6D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до стипендии 14 дней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730502" y="2367282"/>
            <a:ext cx="1267698" cy="4826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F0A53A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471 ₽</a:t>
            </a:r>
            <a:endParaRPr lang="en-US" sz="3600" dirty="0"/>
          </a:p>
        </p:txBody>
      </p:sp>
      <p:sp>
        <p:nvSpPr>
          <p:cNvPr id="13" name="Shape 11"/>
          <p:cNvSpPr/>
          <p:nvPr/>
        </p:nvSpPr>
        <p:spPr>
          <a:xfrm>
            <a:off x="8166021" y="3103882"/>
            <a:ext cx="2959179" cy="434340"/>
          </a:xfrm>
          <a:prstGeom prst="roundRect">
            <a:avLst>
              <a:gd name="adj" fmla="val 29240"/>
            </a:avLst>
          </a:prstGeom>
          <a:solidFill>
            <a:srgbClr val="F0A53A"/>
          </a:solidFill>
          <a:ln/>
        </p:spPr>
      </p:sp>
      <p:sp>
        <p:nvSpPr>
          <p:cNvPr id="14" name="Text 12"/>
          <p:cNvSpPr/>
          <p:nvPr/>
        </p:nvSpPr>
        <p:spPr>
          <a:xfrm>
            <a:off x="8318421" y="3205482"/>
            <a:ext cx="2734011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15202B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А если куплю кроссовки за 3 000?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6807200" y="3665221"/>
            <a:ext cx="4318000" cy="1450975"/>
          </a:xfrm>
          <a:prstGeom prst="roundRect">
            <a:avLst>
              <a:gd name="adj" fmla="val 8753"/>
            </a:avLst>
          </a:prstGeom>
          <a:solidFill>
            <a:srgbClr val="243447"/>
          </a:solidFill>
          <a:ln/>
        </p:spPr>
      </p:sp>
      <p:sp>
        <p:nvSpPr>
          <p:cNvPr id="16" name="Text 14"/>
          <p:cNvSpPr/>
          <p:nvPr/>
        </p:nvSpPr>
        <p:spPr>
          <a:xfrm>
            <a:off x="6959600" y="3792221"/>
            <a:ext cx="4133596" cy="1222375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85"/>
              </a:lnSpc>
              <a:buNone/>
            </a:pP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Тогда лимит станет </a:t>
            </a:r>
            <a:r>
              <a:rPr lang="en-US" sz="1300" b="1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257 ₽ в день</a:t>
            </a:r>
            <a:r>
              <a:rPr lang="en-US" sz="1300" dirty="0">
                <a:solidFill>
                  <a:srgbClr val="F4F1EA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 вместо 471 ₽ до 10 октября. Расчёт: (6 600 − 3 000) / 14 дней. Подработку не учитываю, пока она не пришла. Если придёт подработка 5 000 ₽, после покупки останется 614 ₽ в день.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Чем мы отличаемся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1597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2108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Приложение банка</a:t>
            </a:r>
            <a:endParaRPr lang="en-US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2108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Т-Банк, Сбер, Альфа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108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«Куда ушли деньги?»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02108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9" name="Text 7"/>
          <p:cNvSpPr/>
          <p:nvPr/>
        </p:nvSpPr>
        <p:spPr>
          <a:xfrm>
            <a:off x="1021080" y="3355339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 прошлые траты, а не сколько можно тратить до стипендии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350329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70840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Учёт расходов</a:t>
            </a:r>
            <a:endParaRPr lang="en-US" dirty="0">
              <a:latin typeface="Rubik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370840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Дзен-мани, CoinKeeper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70840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3708400" y="271526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«Сколько я потратил по категориям?»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3708400" y="3302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708400" y="360426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Нужно вести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вручную</a:t>
            </a:r>
            <a:r>
              <a:rPr lang="ru-RU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бюджет рассчитан на регулярный доход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6190615" y="1572896"/>
            <a:ext cx="2477770" cy="3181350"/>
          </a:xfrm>
          <a:prstGeom prst="roundRect">
            <a:avLst>
              <a:gd name="adj" fmla="val 6023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5720" y="1778000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Обычный AI-чат</a:t>
            </a:r>
            <a:endParaRPr lang="en-US" dirty="0">
              <a:latin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6395720" y="2110739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общего назначения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6395720" y="24130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6395720" y="2715261"/>
            <a:ext cx="212958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«Что посоветуешь?»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395720" y="3053082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ЧЕГО НЕ ХВАТАЕТ</a:t>
            </a:r>
            <a:endParaRPr lang="en-US" sz="1400" dirty="0">
              <a:latin typeface="Rubik"/>
            </a:endParaRPr>
          </a:p>
        </p:txBody>
      </p:sp>
      <p:sp>
        <p:nvSpPr>
          <p:cNvPr id="23" name="Text 21"/>
          <p:cNvSpPr/>
          <p:nvPr/>
        </p:nvSpPr>
        <p:spPr>
          <a:xfrm>
            <a:off x="6395720" y="3355339"/>
            <a:ext cx="2129587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Данные нужно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вводить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самому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в цифрах может ошибиться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4" name="Shape 22"/>
          <p:cNvSpPr/>
          <p:nvPr/>
        </p:nvSpPr>
        <p:spPr>
          <a:xfrm>
            <a:off x="8884285" y="1579246"/>
            <a:ext cx="2485390" cy="3168650"/>
          </a:xfrm>
          <a:prstGeom prst="roundRect">
            <a:avLst>
              <a:gd name="adj" fmla="val 5749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093200" y="1788161"/>
            <a:ext cx="2129587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Дневной лимит</a:t>
            </a:r>
            <a:endParaRPr lang="en-US" dirty="0">
              <a:latin typeface="Rubik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9093200" y="2120900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300" dirty="0">
                <a:solidFill>
                  <a:srgbClr val="5F6877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наш продукт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9093200" y="2423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ОТВЕЧАЕТ НА ВОПРОС</a:t>
            </a:r>
            <a:endParaRPr lang="en-US" sz="1400" dirty="0">
              <a:latin typeface="Rubik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9093200" y="2725421"/>
            <a:ext cx="2129587" cy="523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300" i="1" dirty="0">
                <a:solidFill>
                  <a:srgbClr val="16202E"/>
                </a:solidFill>
                <a:latin typeface="IBM Plex Sans" pitchFamily="34" charset="0"/>
                <a:ea typeface="Cambria" panose="02040503050406030204" pitchFamily="18" charset="0"/>
                <a:cs typeface="IBM Plex Sans" pitchFamily="34" charset="-120"/>
              </a:rPr>
              <a:t>«Сколько можно потратить сегодня?»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9093200" y="3312161"/>
            <a:ext cx="2129587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ЧТО ДОБАВЛЯЕМ</a:t>
            </a:r>
            <a:endParaRPr lang="en-US" sz="1400" dirty="0">
              <a:latin typeface="Rubik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9093200" y="3614421"/>
            <a:ext cx="2129587" cy="9499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Учёт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нерегулярного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 числа считает код,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ответ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 обычными словами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31" name="Text 29"/>
          <p:cNvSpPr/>
          <p:nvPr/>
        </p:nvSpPr>
        <p:spPr>
          <a:xfrm>
            <a:off x="812800" y="50114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Мы не заменяем приложение банка, а добавляем в него ответ на вопрос, которого там пока нет.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Arial Black" panose="020B0A04020102020204" pitchFamily="34" charset="0"/>
                <a:ea typeface="Rubik" pitchFamily="34" charset="-122"/>
                <a:cs typeface="Rubik" pitchFamily="34" charset="-120"/>
              </a:rPr>
              <a:t>Выгода для Т-Банка</a:t>
            </a:r>
            <a:endParaRPr lang="en-US" sz="3600" dirty="0">
              <a:latin typeface="Arial Black" panose="020B0A04020102020204" pitchFamily="34" charset="0"/>
            </a:endParaRPr>
          </a:p>
        </p:txBody>
      </p:sp>
      <p:sp>
        <p:nvSpPr>
          <p:cNvPr id="3" name="Text 1"/>
          <p:cNvSpPr/>
          <p:nvPr/>
        </p:nvSpPr>
        <p:spPr>
          <a:xfrm>
            <a:off x="812800" y="1366521"/>
            <a:ext cx="10883392" cy="3098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Пилот на 50 000 студентов, первый год</a:t>
            </a:r>
            <a:endParaRPr lang="en-US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Shape 2"/>
          <p:cNvSpPr/>
          <p:nvPr/>
        </p:nvSpPr>
        <p:spPr>
          <a:xfrm>
            <a:off x="815975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21080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Консервативный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021080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Arial Black" panose="020B0A04020102020204" pitchFamily="34" charset="0"/>
                <a:ea typeface="Rubik" pitchFamily="34" charset="-122"/>
                <a:cs typeface="Rubik" pitchFamily="34" charset="-120"/>
              </a:rPr>
              <a:t>+0,5 млн ₽</a:t>
            </a:r>
            <a:endParaRPr lang="en-US" sz="3200" dirty="0">
              <a:latin typeface="Arial Black" panose="020B0A04020102020204" pitchFamily="34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21080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окупается в первый год даже при минимальных долях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4405392" y="1914525"/>
            <a:ext cx="3381216" cy="1643380"/>
          </a:xfrm>
          <a:prstGeom prst="roundRect">
            <a:avLst>
              <a:gd name="adj" fmla="val 8694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14307" y="2123439"/>
            <a:ext cx="3052288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Базовый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614307" y="2405382"/>
            <a:ext cx="3052288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B25A06"/>
                </a:solidFill>
                <a:latin typeface="Arial Black" panose="020B0A04020102020204" pitchFamily="34" charset="0"/>
                <a:ea typeface="Rubik"/>
                <a:cs typeface="Rubik" pitchFamily="34" charset="-120"/>
              </a:rPr>
              <a:t>+3,7 млн ₽</a:t>
            </a:r>
            <a:endParaRPr lang="en-US" sz="3200" dirty="0">
              <a:latin typeface="Arial Black" panose="020B0A04020102020204" pitchFamily="34" charset="0"/>
              <a:ea typeface="Rubik"/>
            </a:endParaRPr>
          </a:p>
        </p:txBody>
      </p:sp>
      <p:sp>
        <p:nvSpPr>
          <p:cNvPr id="11" name="Text 9"/>
          <p:cNvSpPr/>
          <p:nvPr/>
        </p:nvSpPr>
        <p:spPr>
          <a:xfrm>
            <a:off x="4614307" y="2903221"/>
            <a:ext cx="3052288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≈ 130 ₽ выгоды на пользователя при 16 ₽ затрат на модель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2" name="Shape 10"/>
          <p:cNvSpPr/>
          <p:nvPr/>
        </p:nvSpPr>
        <p:spPr>
          <a:xfrm>
            <a:off x="8002508" y="1908175"/>
            <a:ext cx="3373517" cy="1656080"/>
          </a:xfrm>
          <a:prstGeom prst="roundRect">
            <a:avLst>
              <a:gd name="adj" fmla="val 9011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07613" y="2113282"/>
            <a:ext cx="3052206" cy="2565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300" dirty="0">
                <a:solidFill>
                  <a:srgbClr val="4A556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Оптимистичный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07613" y="2395221"/>
            <a:ext cx="3052206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520"/>
              </a:lnSpc>
              <a:buNone/>
            </a:pPr>
            <a:r>
              <a:rPr lang="en-US" sz="3200" b="1" dirty="0">
                <a:solidFill>
                  <a:srgbClr val="16202E"/>
                </a:solidFill>
                <a:latin typeface="Arial Black" panose="020B0A04020102020204" pitchFamily="34" charset="0"/>
                <a:ea typeface="Rubik"/>
                <a:cs typeface="Rubik" pitchFamily="34" charset="-120"/>
              </a:rPr>
              <a:t>+7,7 млн ₽</a:t>
            </a:r>
            <a:endParaRPr lang="en-US" sz="3200" dirty="0">
              <a:latin typeface="Arial Black" panose="020B0A04020102020204" pitchFamily="34" charset="0"/>
              <a:ea typeface="Rubik"/>
            </a:endParaRPr>
          </a:p>
        </p:txBody>
      </p:sp>
      <p:sp>
        <p:nvSpPr>
          <p:cNvPr id="15" name="Text 13"/>
          <p:cNvSpPr/>
          <p:nvPr/>
        </p:nvSpPr>
        <p:spPr>
          <a:xfrm>
            <a:off x="8207613" y="2893061"/>
            <a:ext cx="3052206" cy="47117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755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 2% новых клиентов и 3% подписок Pro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812800" y="3821432"/>
            <a:ext cx="3488212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Косвенная прибыль</a:t>
            </a:r>
            <a:endParaRPr lang="en-US" dirty="0">
              <a:latin typeface="Rubik"/>
            </a:endParaRPr>
          </a:p>
        </p:txBody>
      </p:sp>
      <p:sp>
        <p:nvSpPr>
          <p:cNvPr id="17" name="Text 15"/>
          <p:cNvSpPr/>
          <p:nvPr/>
        </p:nvSpPr>
        <p:spPr>
          <a:xfrm>
            <a:off x="812800" y="4116071"/>
            <a:ext cx="3488212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Привлечение: до 3 000 ₽ за клиента («Приведи друга»). Удержание: ≈ 1 400 ₽ прибыли в год на студента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4402614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Прямая прибыль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19" name="Text 17"/>
          <p:cNvSpPr/>
          <p:nvPr/>
        </p:nvSpPr>
        <p:spPr>
          <a:xfrm>
            <a:off x="4402614" y="4116071"/>
            <a:ext cx="3488294" cy="487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Базовый лимит бесплатно, расширенный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режим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в подписке Pro за 299 ₽ в месяц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7992507" y="3821432"/>
            <a:ext cx="3488294" cy="2692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20"/>
              </a:lnSpc>
              <a:buNone/>
            </a:pPr>
            <a:r>
              <a:rPr lang="en-US" b="1" dirty="0">
                <a:solidFill>
                  <a:srgbClr val="16202E"/>
                </a:solidFill>
                <a:latin typeface="Rubik"/>
                <a:ea typeface="Rubik"/>
                <a:cs typeface="IBM Plex Sans" pitchFamily="34" charset="-120"/>
              </a:rPr>
              <a:t>Затраты</a:t>
            </a:r>
            <a:endParaRPr lang="en-US" dirty="0">
              <a:latin typeface="Rubik"/>
              <a:ea typeface="Rubik"/>
            </a:endParaRPr>
          </a:p>
        </p:txBody>
      </p:sp>
      <p:sp>
        <p:nvSpPr>
          <p:cNvPr id="21" name="Text 19"/>
          <p:cNvSpPr/>
          <p:nvPr/>
        </p:nvSpPr>
        <p:spPr>
          <a:xfrm>
            <a:off x="7992507" y="4116071"/>
            <a:ext cx="3488294" cy="7188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GigaChat Lite - 0,065 ₽ за 1 000 токенов: ≈ 16 ₽ на пользователя в год (0,8 млн ₽); </a:t>
            </a:r>
            <a:r>
              <a:rPr lang="en-US" sz="14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разработка</a:t>
            </a:r>
            <a:r>
              <a:rPr lang="en-US" sz="14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-2 млн ₽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812800" y="6024882"/>
            <a:ext cx="10883392" cy="452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200" dirty="0">
                <a:solidFill>
                  <a:srgbClr val="5F6877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Источники: итоги Т-Банка за 2025 г.; Т—Ж, 2026; Финуслуги, 2026; тарифы GigaChat API для юрлиц. Доли пользователей и затраты на разработку — допущения команды</a:t>
            </a:r>
            <a:endParaRPr lang="en-US" sz="12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Развитие проекта</a:t>
            </a:r>
            <a:endParaRPr lang="en-US" sz="3600" dirty="0"/>
          </a:p>
        </p:txBody>
      </p:sp>
      <p:sp>
        <p:nvSpPr>
          <p:cNvPr id="3" name="Shape 1"/>
          <p:cNvSpPr/>
          <p:nvPr/>
        </p:nvSpPr>
        <p:spPr>
          <a:xfrm>
            <a:off x="822325" y="1630046"/>
            <a:ext cx="3144044" cy="2543810"/>
          </a:xfrm>
          <a:prstGeom prst="roundRect">
            <a:avLst>
              <a:gd name="adj" fmla="val 5617"/>
            </a:avLst>
          </a:prstGeom>
          <a:solidFill>
            <a:srgbClr val="FBE9CC"/>
          </a:solidFill>
          <a:ln w="19050">
            <a:solidFill>
              <a:srgbClr val="F0A53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1082040" y="1889761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01 · ХАКАТОН</a:t>
            </a:r>
            <a:endParaRPr lang="en-US" sz="1400" dirty="0">
              <a:latin typeface="Rubik"/>
            </a:endParaRPr>
          </a:p>
        </p:txBody>
      </p:sp>
      <p:sp>
        <p:nvSpPr>
          <p:cNvPr id="5" name="Text 3"/>
          <p:cNvSpPr/>
          <p:nvPr/>
        </p:nvSpPr>
        <p:spPr>
          <a:xfrm>
            <a:off x="1082040" y="2192021"/>
            <a:ext cx="2703352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MVP</a:t>
            </a:r>
            <a:endParaRPr lang="en-US" sz="2800" dirty="0">
              <a:latin typeface="Rubik"/>
            </a:endParaRPr>
          </a:p>
        </p:txBody>
      </p:sp>
      <p:sp>
        <p:nvSpPr>
          <p:cNvPr id="6" name="Text 4"/>
          <p:cNvSpPr/>
          <p:nvPr/>
        </p:nvSpPr>
        <p:spPr>
          <a:xfrm>
            <a:off x="1082040" y="2616200"/>
            <a:ext cx="2703352" cy="10210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Веб-сервис на синтетических данных: лимит, проверка покупки,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чат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5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на</a:t>
            </a: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LLM, проверочные примеры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1082040" y="3756659"/>
            <a:ext cx="2703352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Готово к защите</a:t>
            </a:r>
            <a:endParaRPr lang="en-US" sz="14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8" name="Image 0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4077494" y="2800350"/>
            <a:ext cx="355600" cy="203200"/>
          </a:xfrm>
          <a:prstGeom prst="rect">
            <a:avLst/>
          </a:prstGeom>
        </p:spPr>
      </p:pic>
      <p:sp>
        <p:nvSpPr>
          <p:cNvPr id="9" name="Shape 6"/>
          <p:cNvSpPr/>
          <p:nvPr/>
        </p:nvSpPr>
        <p:spPr>
          <a:xfrm>
            <a:off x="4537869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93774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02 · БЛИЖАЙШИЙ ЭТАП</a:t>
            </a:r>
            <a:endParaRPr lang="en-US" sz="1400" dirty="0">
              <a:latin typeface="Rubik"/>
            </a:endParaRPr>
          </a:p>
        </p:txBody>
      </p:sp>
      <p:sp>
        <p:nvSpPr>
          <p:cNvPr id="11" name="Text 8"/>
          <p:cNvSpPr/>
          <p:nvPr/>
        </p:nvSpPr>
        <p:spPr>
          <a:xfrm>
            <a:off x="4793774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Проверка</a:t>
            </a:r>
            <a:endParaRPr lang="en-US" sz="2800" dirty="0">
              <a:latin typeface="Rubik"/>
            </a:endParaRPr>
          </a:p>
        </p:txBody>
      </p:sp>
      <p:sp>
        <p:nvSpPr>
          <p:cNvPr id="12" name="Text 9"/>
          <p:cNvSpPr/>
          <p:nvPr/>
        </p:nvSpPr>
        <p:spPr>
          <a:xfrm>
            <a:off x="4793774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Тест с 10 студентами: цель — не меньше 70% оценок 4–5 из 5. Точность расчёта на реальных выписках. Поиск подписок и цели накопления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3" name="Image 1" descr="arrow-right"/>
          <p:cNvPicPr>
            <a:picLocks noChangeAspect="1"/>
          </p:cNvPicPr>
          <p:nvPr/>
        </p:nvPicPr>
        <p:blipFill>
          <a:blip r:embed="rId3"/>
          <a:srcRect/>
          <a:stretch/>
        </p:blipFill>
        <p:spPr>
          <a:xfrm>
            <a:off x="7779147" y="2800350"/>
            <a:ext cx="355600" cy="203200"/>
          </a:xfrm>
          <a:prstGeom prst="rect">
            <a:avLst/>
          </a:prstGeom>
        </p:spPr>
      </p:pic>
      <p:sp>
        <p:nvSpPr>
          <p:cNvPr id="14" name="Shape 10"/>
          <p:cNvSpPr/>
          <p:nvPr/>
        </p:nvSpPr>
        <p:spPr>
          <a:xfrm>
            <a:off x="8239522" y="1623696"/>
            <a:ext cx="3136503" cy="2556510"/>
          </a:xfrm>
          <a:prstGeom prst="roundRect">
            <a:avLst>
              <a:gd name="adj" fmla="val 5837"/>
            </a:avLst>
          </a:prstGeom>
          <a:solidFill>
            <a:srgbClr val="FDFBF6"/>
          </a:solidFill>
          <a:ln w="6350">
            <a:solidFill>
              <a:srgbClr val="E2DCCF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8495427" y="1879600"/>
            <a:ext cx="2703434" cy="238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680"/>
              </a:lnSpc>
              <a:buNone/>
            </a:pPr>
            <a:r>
              <a:rPr lang="en-US" sz="1400" b="1" kern="0" spc="100" dirty="0">
                <a:solidFill>
                  <a:srgbClr val="B25A06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03 · ДАЛЬШЕ</a:t>
            </a:r>
            <a:endParaRPr lang="en-US" sz="1400" dirty="0">
              <a:latin typeface="Rubik"/>
            </a:endParaRPr>
          </a:p>
        </p:txBody>
      </p:sp>
      <p:sp>
        <p:nvSpPr>
          <p:cNvPr id="16" name="Text 12"/>
          <p:cNvSpPr/>
          <p:nvPr/>
        </p:nvSpPr>
        <p:spPr>
          <a:xfrm>
            <a:off x="8495427" y="2181861"/>
            <a:ext cx="2703434" cy="360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640"/>
              </a:lnSpc>
              <a:buNone/>
            </a:pPr>
            <a:r>
              <a:rPr lang="en-US" sz="2800" b="1" dirty="0">
                <a:solidFill>
                  <a:srgbClr val="16202E"/>
                </a:solidFill>
                <a:latin typeface="Rubik"/>
                <a:ea typeface="IBM Plex Sans" pitchFamily="34" charset="-122"/>
                <a:cs typeface="IBM Plex Sans" pitchFamily="34" charset="-120"/>
              </a:rPr>
              <a:t>Масштаб</a:t>
            </a:r>
            <a:endParaRPr lang="en-US" sz="2800" dirty="0">
              <a:latin typeface="Rubik"/>
            </a:endParaRPr>
          </a:p>
        </p:txBody>
      </p:sp>
      <p:sp>
        <p:nvSpPr>
          <p:cNvPr id="17" name="Text 13"/>
          <p:cNvSpPr/>
          <p:nvPr/>
        </p:nvSpPr>
        <p:spPr>
          <a:xfrm>
            <a:off x="8495427" y="2606039"/>
            <a:ext cx="2703434" cy="12700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960"/>
              </a:lnSpc>
              <a:buNone/>
            </a:pPr>
            <a:r>
              <a:rPr lang="en-US" sz="15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Модуль в приложении Т-Банка на реальных транзакциях с согласия клиента. B2B2C для других банков. Молодые специалисты</a:t>
            </a:r>
            <a:endParaRPr lang="en-US" sz="15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18" name="Text 14"/>
          <p:cNvSpPr/>
          <p:nvPr/>
        </p:nvSpPr>
        <p:spPr>
          <a:xfrm>
            <a:off x="812800" y="4488179"/>
            <a:ext cx="1088339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6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Главная гипотеза пилота: студенты открывают лимит каждый день — это и есть удержание клиента для банка.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6F3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12800" y="812800"/>
            <a:ext cx="10883392" cy="528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3960"/>
              </a:lnSpc>
              <a:buNone/>
            </a:pPr>
            <a:r>
              <a:rPr lang="en-US" sz="3600" b="1" dirty="0">
                <a:solidFill>
                  <a:srgbClr val="16202E"/>
                </a:solidFill>
                <a:latin typeface="Rubik" pitchFamily="34" charset="0"/>
                <a:ea typeface="Rubik" pitchFamily="34" charset="-122"/>
                <a:cs typeface="Rubik" pitchFamily="34" charset="-120"/>
              </a:rPr>
              <a:t>Итог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812800" y="1620520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Проблема.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1,6 млн студентов с нерегулярным доходом не знают, сколько можно тратить до следующего поступления.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4" name="Text 2"/>
          <p:cNvSpPr/>
          <p:nvPr/>
        </p:nvSpPr>
        <p:spPr>
          <a:xfrm>
            <a:off x="812800" y="2520266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Решение.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Одна цифра на сегодня: GigaChat понимает вопрос, код считает, ответ объясняет допущения.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5" name="Text 3"/>
          <p:cNvSpPr/>
          <p:nvPr/>
        </p:nvSpPr>
        <p:spPr>
          <a:xfrm>
            <a:off x="812800" y="3254329"/>
            <a:ext cx="5839247" cy="225890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Ценность для студента.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Нехватка денег видна заранее, а не в последний день,  есть время решить, что урезать.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6" name="Text 4"/>
          <p:cNvSpPr/>
          <p:nvPr/>
        </p:nvSpPr>
        <p:spPr>
          <a:xfrm>
            <a:off x="838200" y="3988387"/>
            <a:ext cx="5621867" cy="19275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2240"/>
              </a:lnSpc>
              <a:buNone/>
            </a:pPr>
            <a:r>
              <a:rPr lang="en-US" sz="1700" b="1" dirty="0">
                <a:solidFill>
                  <a:srgbClr val="B25A0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Для Т-Банка.</a:t>
            </a:r>
            <a:r>
              <a:rPr lang="en-US" sz="1700" dirty="0">
                <a:solidFill>
                  <a:srgbClr val="16202E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Лояльные молодые клиенты и +3,7 млн ₽ в базовом сценарии пилота.</a:t>
            </a:r>
            <a:endParaRPr lang="en-US" sz="17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7" name="Text 5"/>
          <p:cNvSpPr/>
          <p:nvPr/>
        </p:nvSpPr>
        <p:spPr>
          <a:xfrm>
            <a:off x="812800" y="4665730"/>
            <a:ext cx="5545667" cy="115933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ts val="1820"/>
              </a:lnSpc>
              <a:buNone/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Ограничения: не увеличивает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доход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 заранее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показывает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дефицит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работает на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синтетических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данных</a:t>
            </a:r>
            <a:r>
              <a:rPr lang="ru-RU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,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 не даёт инвестиционных советов и не проводит операций.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sp>
        <p:nvSpPr>
          <p:cNvPr id="8" name="Shape 6"/>
          <p:cNvSpPr/>
          <p:nvPr/>
        </p:nvSpPr>
        <p:spPr>
          <a:xfrm>
            <a:off x="7721811" y="1563369"/>
            <a:ext cx="3652097" cy="3652097"/>
          </a:xfrm>
          <a:prstGeom prst="roundRect">
            <a:avLst>
              <a:gd name="adj" fmla="val 6425"/>
            </a:avLst>
          </a:prstGeom>
          <a:solidFill>
            <a:srgbClr val="FDFBF6"/>
          </a:solidFill>
          <a:ln w="12700">
            <a:solidFill>
              <a:srgbClr val="D9D2C3"/>
            </a:solidFill>
            <a:prstDash val="dash"/>
          </a:ln>
        </p:spPr>
      </p:sp>
      <p:sp>
        <p:nvSpPr>
          <p:cNvPr id="9" name="Text 7"/>
          <p:cNvSpPr/>
          <p:nvPr/>
        </p:nvSpPr>
        <p:spPr>
          <a:xfrm>
            <a:off x="8791574" y="3154680"/>
            <a:ext cx="15125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ctr">
              <a:lnSpc>
                <a:spcPts val="1960"/>
              </a:lnSpc>
              <a:buNone/>
            </a:pPr>
            <a:r>
              <a:rPr lang="en-US" sz="1400" dirty="0">
                <a:solidFill>
                  <a:srgbClr val="5F6877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[QR-код на отчёт]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803383" y="5425861"/>
            <a:ext cx="3488952" cy="1213197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 fontScale="92500"/>
          </a:bodyPr>
          <a:lstStyle/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GitHub: 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  <a:hlinkClick r:id="rId3"/>
              </a:rPr>
              <a:t>https://github.com/Tvorog108/Xakaton_27_09_27</a:t>
            </a:r>
            <a:endParaRPr lang="ru-RU" sz="1600" dirty="0">
              <a:solidFill>
                <a:srgbClr val="4A5566"/>
              </a:solidFill>
              <a:latin typeface="Cambria" panose="02040503050406030204" pitchFamily="18" charset="0"/>
              <a:ea typeface="Cambria" panose="02040503050406030204" pitchFamily="18" charset="0"/>
              <a:cs typeface="IBM Plex Sans" pitchFamily="34" charset="-120"/>
            </a:endParaRPr>
          </a:p>
          <a:p>
            <a:pPr algn="ctr">
              <a:lnSpc>
                <a:spcPts val="1950"/>
              </a:lnSpc>
            </a:pP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Telegram </a:t>
            </a:r>
            <a:r>
              <a:rPr lang="en-US" sz="1600" dirty="0" err="1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капитана</a:t>
            </a:r>
            <a:r>
              <a:rPr lang="en-US" sz="1600" dirty="0">
                <a:solidFill>
                  <a:srgbClr val="4A5566"/>
                </a:solidFill>
                <a:latin typeface="Cambria" panose="02040503050406030204" pitchFamily="18" charset="0"/>
                <a:ea typeface="Cambria" panose="02040503050406030204" pitchFamily="18" charset="0"/>
                <a:cs typeface="IBM Plex Sans" pitchFamily="34" charset="-120"/>
              </a:rPr>
              <a:t>: @SergeevBogdan123</a:t>
            </a:r>
            <a:endParaRPr lang="en-US" sz="1600" dirty="0">
              <a:latin typeface="Cambria" panose="02040503050406030204" pitchFamily="18" charset="0"/>
              <a:ea typeface="Cambria" panose="02040503050406030204" pitchFamily="18" charset="0"/>
            </a:endParaRPr>
          </a:p>
        </p:txBody>
      </p:sp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2E2BEC40-2321-4F0F-B62C-7E6BDB686B0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721811" y="1395305"/>
            <a:ext cx="3793067" cy="389932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24</TotalTime>
  <Words>2011</Words>
  <Application>Microsoft Office PowerPoint</Application>
  <PresentationFormat>Широкоэкранный</PresentationFormat>
  <Paragraphs>144</Paragraphs>
  <Slides>9</Slides>
  <Notes>9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7" baseType="lpstr">
      <vt:lpstr>Arial</vt:lpstr>
      <vt:lpstr>Arial Black</vt:lpstr>
      <vt:lpstr>Calibri</vt:lpstr>
      <vt:lpstr>Cambria</vt:lpstr>
      <vt:lpstr>Century</vt:lpstr>
      <vt:lpstr>IBM Plex Sans</vt:lpstr>
      <vt:lpstr>Rubik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Дневной лимит — защита</dc:title>
  <dc:subject>PptxGenJS Presentation</dc:subject>
  <dc:creator>PptxGenJS</dc:creator>
  <cp:lastModifiedBy>Богдан Сергеев</cp:lastModifiedBy>
  <cp:revision>15</cp:revision>
  <dcterms:created xsi:type="dcterms:W3CDTF">2026-09-26T15:49:40Z</dcterms:created>
  <dcterms:modified xsi:type="dcterms:W3CDTF">2026-09-27T02:50:45Z</dcterms:modified>
</cp:coreProperties>
</file>